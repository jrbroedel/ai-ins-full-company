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8" y="2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47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Kent's technical reference deck — the manual rendered as slides with the architecture made visual. Covers the whole system: hosting, the pipeline, rating, compliance, Odoo, outputs, evidence, and open work. Secrets are placeholdered. One synthetic-data caveat appears on the dataset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slide. The deck is organized so you can jump to a part. Parts 2-6 are the technical meat; 7-8 are status 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 the model. The technically important consequence of 'MGA on delegated authority' is that the platform's whole job is to operate safely and cheaply inside two sets of constraints — the binder and the regulator — without ever touching the balance sheet. That framing drives every design choice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'why' that makes the rest coherent. Borrowed from how a Lloyd's coverholder is expected to operate: everything must be traceable to the binder or the regulator. That single principle explains the referral matrix, the state registry, and the decision logging you'll see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one-slide mental model. Top to bottom: users hit Cloudflare, which routes to two app surfaces — the Static Web Apps dashboards (Entra-gated) and the Odoo VM. The VM talks to the VNet-private Postgres, which is the system of record. A read-only exporter writes snapshot.json that the dashboards render from — so the dashboards can never mutate the DB. Blob, Key Vault, and GitHub+CI-runner support it. Everything else in Part 2 zooms into a box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inventory behind the diagram. Note the two things worth saying aloud: the database is VNet-private (never publicly reachable), and the CI runner is self-hosted on the VM. Domains: mga.* (prod), dashboard.* and control.* (demo) — currently on the ironcliffvertex hosting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security story in five points. The read-then-guard pattern and the PAT scope limit are both hard-won — each fixed a real incident. Emphasize that these aren't paperwork; they're the controls that make delegated underwriting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 vs demo, and the one architectural decision worth defending: isolation by separate database rather than schema. It's a direct consequence of SECURITY DEFINER pinning the search_path — a detail that would bite anyone who tried schema isolation later. Demo data is clearly synthetic (SERFF prefixed DEMO-SYNTHETIC-).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systemd services. The exporter being read-only is the important property — it's what lets you trust the dashboard as evidence rather than theater. The generator stays paused so the demo dataset is stable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'how it works'. Five stages. The ordering is the point: the referral gate fires BEFORE pricing, mirroring how a coverholder confirms a risk is theirs to price before pricing it. And the logic lives in the database as stored procedures, not scattered in app code — that's what makes it consistent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Intake and enrichment. The design tell here: never default-fill missing risk fields — surface them as a referral. And enrichment is the precondition for everything downstream: the referral gate only has teeth because it's comparing declared vs. enriched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action taxonomy. The one thing to land: only sanctions hard-declines automatically. Everything else keeps a human as the accountable decision-maker. That's a deliberate regulatory posture, not timidity — an unattended AI decline is the fact pattern regulators pounce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categories and two disciplines that matter at audit: state hooks let a state tighten a national trigger, and every fired rule logs a reason_code at decision time. Flag which rules are still stubs (VV-01/02, DH-02, PC-04) and that sanctions is the lone hard-decline.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rating chain, end to end. Don't dwell on every factor — the structural point is on the next slide (state variation lives in the territory factor, not the base rate). Here just show it's a deterministic, ordered pipeline from a national base rate to total premium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most important data-model insight, and the one that unlocks 50-state scaling: keep base rates national, put ALL state/local variation in a territory-factor dimension. Onboarding a state then becomes a data+filing exercise, not an engine rebuild. Today only the statewide tier exists; metro and ZIP are the next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the compliance boundary works at runtime. The key word is HARD STOP: a disallowed variable isn't a warning, the engine refuses. This is the second-independent-check philosophy — even if the rating engine had a bug, the registry won't let a non-compliant variable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Turn regulation into a moat. Build to NY's bar once and every looser state is free. This is why the decision-log/explainability plumbing runs through the whole pipeline — it's not overhead, it's what lets Torque enter any state without re-architecting.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Odoo, and the one rule about it: it reads through views only. It's a free, self-hostable ERP that gives document management, invoicing, and an extensible object model without a per-seat MGA-software contract — which fits the expense-efficiency thesis. The quota-share splitting it can't do natively is the custom piece. Flag the group_user caveat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the logic lives in the database. SECURITY DEFINER + pinned search_path means every caller gets the same behavior with the same privileges — no chance of Odoo and the API pricing a risk differently. It's also why demo isolation had to be a separate database. This is the technical heart.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Included the three-way reconciliation here because it's YOUR technical view — but with the note attached, and the reminder that it stays off investor slides. Canonical is ADR 0042 (25% / gross×0.75). Also remember opex (~$10.6M) is calibrated to ~$60M plan GWP, not the demo GWP — don't combine them in a P&amp;L without a reconciliation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dataset that proves the machine runs — clearly synthetic. Two technical points you need: the loss ratio is technical/rater basis (say it every time), and the softening/replay constraint is load-bearing for Build 3 — the live RPC doesn't apply softening, so replay must read premiums from the artifact or softening becomes a rating input. This is the single biggest gotcha in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concrete artifacts — the 'pull documents to show output' half. The decision log is the audit/adverse-action artifact; the bordereaux is what the whole data model is ultimately designed to feed up to Lloyd's.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answer to 'where's the evidence it does anything'. It's a runbook, not assertions — each row is something you can run yourself. The through-line at the bottom is the whole philosophy: nothing here asks to be trusted, everything can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Credibility through candor. The left column is real and built; the right is honestly what's stubbed or unbuilt. Don't oversell left or hide right — the honesty is itself a signal, and this is your working reference so it needs to be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backlog, each with the reason it's not done. Two are compliance-adjacent (sanctions vendor, and the territory dimension for correct per-state rating); the rest are engineering. Renewals is the biggest undesigned area. This is your working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card. The ADR index points to the decisions behind each design choice; the repo map tells you where everything lives. Full sequence is 0001–0043 in docs/decisions/. The manual (docs/manual) is the prose companion to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organizing idea — two masters, software-first, everything logged — and point back to the manual and ADRs for depth. This deck is the map; those are the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195560" y="2148840"/>
            <a:ext cx="640080" cy="6400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Block Arc 2"/>
          <p:cNvSpPr/>
          <p:nvPr/>
        </p:nvSpPr>
        <p:spPr>
          <a:xfrm>
            <a:off x="9144000" y="1005840"/>
            <a:ext cx="3108960" cy="3108960"/>
          </a:xfrm>
          <a:prstGeom prst="blockArc">
            <a:avLst/>
          </a:prstGeom>
          <a:solidFill>
            <a:srgbClr val="3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TORQUE UNDERWRITERS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1012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0A62E"/>
                </a:solidFill>
                <a:latin typeface="Calibri"/>
              </a:rPr>
              <a:t>Platform Technical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0C6"/>
                </a:solidFill>
                <a:latin typeface="Calibri"/>
              </a:rPr>
              <a:t>How it's built · how it works · where things live ·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FB0C6"/>
                </a:solidFill>
                <a:latin typeface="Calibri"/>
              </a:rPr>
              <a:t>Internal engineering reference · sensitive infrastructure identifiers shown as &lt;PLACEHOLDER&gt;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34"/>
                </a:solidFill>
                <a:latin typeface="Calibri"/>
              </a:rPr>
              <a:t>Eight parts, front to back — each answers one of Kent's four questions: how it's built, how it works, where things live, and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551176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5973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8892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 Torque is and the design principle everything traces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331720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9895" y="2551176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67" y="245973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Hosting &amp;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278892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Where every piece runs, and the security posture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19272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47288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7647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invisible pipeline: intake → quote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319272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9895" y="3538728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447288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Rating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377647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rating engine and the per-state legal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06824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9808" y="4526280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3484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Odoo &amp; the data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64024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interface layer and the stored-procedure heart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4306824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79895" y="4526280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443484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Outputs &amp;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5967" y="4764024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 it produces and how to prove it runs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94376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9808" y="5513832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2239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5157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What's built, what's next, what's deferred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5294376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9895" y="5513832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5967" y="542239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5967" y="575157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ADR index, repo map, glossary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1 ·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What Torque Underwriters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34"/>
                </a:solidFill>
                <a:latin typeface="Calibri"/>
              </a:rPr>
              <a:t>A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Managing General Agent (MGA)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for luxury, exotic, and collector auto — writing on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Lloyd's syndicate paper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under a binding authority. It does everything an insurer does at the front line (intake, price, decide, issue) but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carries none of the risk on its own balance sheet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. Revenue is commission on premium, plus a profit commission when the book performs.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310896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798545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 in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2841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Torque (MGA)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328416"/>
            <a:ext cx="798545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Assesses, prices, decides, issues, services — as software wherever possible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85616"/>
            <a:ext cx="3108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Lloyd's syndicates (capacity)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785616"/>
            <a:ext cx="7985455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Carry the claims risk; back the binder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242816"/>
            <a:ext cx="798545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Places business; earns commission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0016"/>
            <a:ext cx="3108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Regulator (per state DOI)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700016"/>
            <a:ext cx="7985455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Defines what the rating engine may legally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1 ·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design principle everything traces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34"/>
                </a:solidFill>
                <a:latin typeface="Calibri"/>
              </a:rPr>
              <a:t>Every behavior in the platform traces to one of two masters. If it can't, it doesn't belong in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60604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42670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534"/>
                </a:solidFill>
                <a:latin typeface="Cambria"/>
              </a:rPr>
              <a:t>The binder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481568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E"/>
                </a:solidFill>
                <a:latin typeface="Calibri"/>
              </a:rPr>
              <a:t>What the Lloyd's syndicates authorized: classes, limits, referral triggers, commission terms. → the referral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331720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3047" y="260604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27" y="2606040"/>
            <a:ext cx="42670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534"/>
                </a:solidFill>
                <a:latin typeface="Cambria"/>
              </a:rPr>
              <a:t>The regulator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200400"/>
            <a:ext cx="481568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E"/>
                </a:solidFill>
                <a:latin typeface="Calibri"/>
              </a:rPr>
              <a:t>What each state's DOI permits: rating variables, prohibited factors, AI-governance. → the state rating registry.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This is why the platform is built around referral gates + a per-state compliance registry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rather than one global rating function. Traceability is the architecture, not a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Architecture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00400" cy="566928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Brokers · Applicants · Investors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984248"/>
            <a:ext cx="0" cy="256032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80560" y="22402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Cloudflare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DNS / CNAME routing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931920" y="2788920"/>
            <a:ext cx="1554480" cy="274320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788920"/>
            <a:ext cx="1554480" cy="274320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306324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Azure Static Web Apps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Investor dashboard + control panel · Entra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06324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VM  luxauto-odoo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Odoo 19 · demo services · CI runner (Ubuntu 24.04)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931920"/>
            <a:ext cx="0" cy="41148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396849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FB0C6"/>
                </a:solidFill>
                <a:latin typeface="Calibri"/>
              </a:rPr>
              <a:t>reads snapshot.json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3931920"/>
            <a:ext cx="0" cy="41148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43434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snapshot.json (read-only export)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43434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PostgreSQL  luxauto-pg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VNet-private · system of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257800"/>
            <a:ext cx="237744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Blob Storage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257800"/>
            <a:ext cx="237744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Key Vault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257800"/>
            <a:ext cx="196596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GitHub repo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source + ADRs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257800"/>
            <a:ext cx="205740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CI runner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self-hosted, on VM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589520" y="5532120"/>
            <a:ext cx="1371600" cy="329184"/>
          </a:xfrm>
          <a:prstGeom prst="line">
            <a:avLst/>
          </a:prstGeom>
          <a:ln w="1524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Hosting inventory — what runs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Azure, resource group </a:t>
            </a:r>
            <a:r>
              <a:rPr sz="1200" b="0" i="0">
                <a:solidFill>
                  <a:srgbClr val="5C6B7E"/>
                </a:solidFill>
                <a:latin typeface="Consolas"/>
              </a:rPr>
              <a:t>&lt;RESOURCE_GROUP&gt;</a:t>
            </a:r>
            <a:r>
              <a:rPr sz="1200" b="0" i="0">
                <a:solidFill>
                  <a:srgbClr val="5C6B7E"/>
                </a:solidFill>
                <a:latin typeface="Calibri"/>
              </a:rPr>
              <a:t>, region </a:t>
            </a:r>
            <a:r>
              <a:rPr sz="1200" b="0" i="0">
                <a:solidFill>
                  <a:srgbClr val="5C6B7E"/>
                </a:solidFill>
                <a:latin typeface="Consolas"/>
              </a:rPr>
              <a:t>eastus2</a:t>
            </a:r>
            <a:r>
              <a:rPr sz="1200" b="0" i="0">
                <a:solidFill>
                  <a:srgbClr val="5C6B7E"/>
                </a:solidFill>
                <a:latin typeface="Calibri"/>
              </a:rPr>
              <a:t>. Secrets/IDs shown as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27432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057400"/>
            <a:ext cx="46634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057400"/>
            <a:ext cx="36877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973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VM  luxauto-odoo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45973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Ubuntu 24.04 · IP &lt;PLACEHOLDER&gt; · SSH via NSG &lt;PLACEHOLDER&gt;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45973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app, demo services, CI runner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407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PostgreSQL  luxauto-pg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9407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v16 Flexible Server · VNet-private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89407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System of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Blob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32841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&lt;STORAGE_ACCOUNT&gt;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32841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Documents, appraisals, exports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Key 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76275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&lt;KEY_VAULT&gt;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76275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Secrets, read at deploy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9709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Static Web 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9709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Entra-authenticated hosting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19709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Investor dashboard + control panel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3143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CI runner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463143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Self-hosted GitHub Actions, on 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63143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Deploy / verify on push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65775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Cloudflare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5065775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DNS / CNAME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5065775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Friendly domains → Azure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00115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GitHub repo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500115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jrbroedel/ai-ins-full-company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5500115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Code, DB migrations, ADRs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Network &amp; security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69164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Database is VNet-private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02536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luxauto-pg has no public endpoint — reachable only from inside the virtual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78024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7802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SSH locked to one NSG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VM shell access is restricted to a single network-security-group rule, not open to the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64408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264408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Dashboards behind Entra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75303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Investor dashboard and control panel require Microsoft Entra sign-in.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50791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4050791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Secrets via Key Vault, read-then-guard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36168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Deploy scripts read the existing secret and only set it if absent — fixes a bug where redeploys reset Entra client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37176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837176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VM PAT lacks </a:t>
            </a:r>
            <a:r>
              <a:rPr sz="1400" b="1" i="0">
                <a:solidFill>
                  <a:srgbClr val="1C2534"/>
                </a:solidFill>
                <a:latin typeface="Consolas"/>
              </a:rPr>
              <a:t>workflow</a:t>
            </a:r>
            <a:r>
              <a:rPr sz="1400" b="1" i="0">
                <a:solidFill>
                  <a:srgbClr val="1C2534"/>
                </a:solidFill>
                <a:latin typeface="Cambria"/>
              </a:rPr>
              <a:t> scope (ADR 0020)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48072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Workflow YAML can't be pushed from the VM — it must come from a maintainer's own machine. Intentional blast-radius limit.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Environments: production vs.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9E76"/>
                </a:solidFill>
                <a:latin typeface="Calibri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onsolas"/>
              </a:rPr>
              <a:t>branch 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724247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Production database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The shipped platform build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ADRs 0001–0043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91640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1874519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791F"/>
                </a:solidFill>
                <a:latin typeface="Calibr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onsolas"/>
              </a:rPr>
              <a:t>branch  demo/investor-preview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06040"/>
            <a:ext cx="4724247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Separate luxauto_demo DB (same server)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CA/NY/TX/FL onboarded, synthetic data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4 sample apps, referral matrix exercised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36289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Why a separate database, not a schema: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platform's stored procedures are SECURITY DEFINER and pin SET search_path = public. Schema-level isolation would force duplicating 30+ function definitions; a separate database (via PGDATABASE override) gets clean isolation for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Demo runtime — services on the 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2011679"/>
            <a:ext cx="411480" cy="411480"/>
          </a:xfrm>
          <a:prstGeom prst="ellipse">
            <a:avLst/>
          </a:prstGeom>
          <a:solidFill>
            <a:srgbClr val="2E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901952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Dashboard exporter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240280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Read-only. Queries luxauto_demo and writes snapshot.json. Never writes to the DB — so the dashboard is evidence of the data, not a hand-edited display.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39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3108959"/>
            <a:ext cx="411480" cy="411480"/>
          </a:xfrm>
          <a:prstGeom prst="ellipse">
            <a:avLst/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999232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Synthetic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337559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Preset-driven generator of synthetic submissions. Normally left paused.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" y="4206240"/>
            <a:ext cx="411480" cy="411480"/>
          </a:xfrm>
          <a:prstGeom prst="ellipse">
            <a:avLst/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096511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Demo control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434840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Backs the control panel that drives the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47488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Dashboards + control panel are deployed to Azure Static Web Apps (Entra auth), Cloudflare CNAMEs on the friendly domains.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The pipeline — what happens that you can't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A clean risk never touches a human. Every stage runs as software, in order, in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57299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Application in, structured &amp; ID'd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3154680"/>
            <a:ext cx="279577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0753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9413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753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Enrich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0481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MVR · VIN · title · prior losses · sanctions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5001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12867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21527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Referral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2595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Route only what needs a human — before pricing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115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4981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03641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4981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4709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Price inside what the state permits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79229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77095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85755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7095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6823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Offer + logged, explainable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Underneath: a set of PostgreSQL stored procedures (create_quote() and helpers), run as SECURITY DEFINER. The app layer never re-implements rating logic — it calls the database, the single source of truth for how a risk is priced and gated.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Stage 1–2 · Intake and enrichment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327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12848"/>
            <a:ext cx="48156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Application conforms to the application schema: applicant, additional drivers, vehicles, coverage requested, prior insurance, 5-year claims history. Each gets a unique ID and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48156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Missing risk-critical fields are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not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silently defaulted — that's a referral condition (DH-04), never a guess.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91640"/>
            <a:ext cx="5364327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1874519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212848"/>
            <a:ext cx="4815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Augment the declared application with external truth: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697480"/>
            <a:ext cx="4815687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Motor-vehicle record (MVR)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VIN decode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Title-history lookup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Prior-carrier loss run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Household / sanctions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526280"/>
            <a:ext cx="481568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B7791F"/>
                </a:solidFill>
                <a:latin typeface="Calibri"/>
              </a:rPr>
              <a:t>Several sources are still stubs pending vendor integration (see Part 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Enrichment is what makes the referral checks meaningful — the system compares what was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declared</a:t>
            </a:r>
            <a:r>
              <a:rPr sz="1300" b="0" i="0">
                <a:solidFill>
                  <a:srgbClr val="1C2534"/>
                </a:solidFill>
                <a:latin typeface="Calibri"/>
              </a:rPr>
              <a:t> against what is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true</a:t>
            </a:r>
            <a:r>
              <a:rPr sz="1300" b="0" i="0">
                <a:solidFill>
                  <a:srgbClr val="1C2534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referral matrix — the hard-stop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"The model isn't sure" or "needs a human/compliance check" — encoded as executable actions, not left to discretion.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6616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752825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1401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AUTO_PROCEED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41401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No referral; rating runs normally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2549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AUTO_PROCEED_WITH_FLAG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82549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Runs, but flag attached for later audit sampling — non-blocking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3697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INFORMATION_REQUEST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23697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Halt; itemized request back to applicant/broker — a completeness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4845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MANUAL_REVIEW_REQUIRED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64845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Human underwriter before any quote is released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5993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MANUAL_REVIEW_SENIOR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05993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Senior / second sign-off — highest-severity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7141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DECLINE_RECOMMENDED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47141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Recommends decline, reason pre-filled — a human confirms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HARD_DECLINE_COMPLIANCE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88289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Sanctions/legal only — no discretion; cannot proceed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Deliberate: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nothing auto-declines on a model decision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except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HARD_DECLINE_COMPLIANCE (sanctions). A fully-automated AI decline is exactly the pattern that draws NAIC / DFS scrutiny — DECLINE_RECOMMENDED keeps a human accountable.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Referral matrix — categories &amp; discipline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Vehicle &amp; 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7922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VV-01…04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7007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VIN mismatch · title brand · stale agreed value · undeclared mods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865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Driver &amp; household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4780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DH-01…04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865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DUI in look-back · undisclosed driver · suspended license · missing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Account &amp;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1638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AL-01…02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723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adverse loss history · prior non-renewal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58183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Coverage &amp; pricing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8496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CP-01…03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58183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business-use · authority-limit · rating-band exceeded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43983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Process &amp; conduct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5354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PC-01…04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43983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garaging mismatch · sanctions · out-of-territory · unverified producer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93207"/>
            <a:ext cx="11094415" cy="841248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93207"/>
            <a:ext cx="104543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State-varying rules carry a state_override_hook into that state's registry record.  Every fired rule writes a reason_code at the point of decision — never reconstructed.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vs pending: VV-01, VV-02, DH-02, PC-04 await external data. PC-02 (sanctions) is the only hard-decline and the one real compliance exposure.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rating engine — the rating chain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691640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National PD base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98424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vehicle class × value band — not state</a:t>
            </a:r>
          </a:p>
        </p:txBody>
      </p:sp>
      <p:sp>
        <p:nvSpPr>
          <p:cNvPr id="7" name="Oval 6"/>
          <p:cNvSpPr/>
          <p:nvPr/>
        </p:nvSpPr>
        <p:spPr>
          <a:xfrm>
            <a:off x="6278727" y="1746504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9079" y="1691640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× 14 core factors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0008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× 14 coverage factors</a:t>
            </a:r>
          </a:p>
        </p:txBody>
      </p:sp>
      <p:sp>
        <p:nvSpPr>
          <p:cNvPr id="11" name="Oval 10"/>
          <p:cNvSpPr/>
          <p:nvPr/>
        </p:nvSpPr>
        <p:spPr>
          <a:xfrm>
            <a:off x="6278727" y="2404872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079" y="2350008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Liability loss cost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008376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ALAE / ULAE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30098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claim-adjustment loads</a:t>
            </a:r>
          </a:p>
        </p:txBody>
      </p:sp>
      <p:sp>
        <p:nvSpPr>
          <p:cNvPr id="16" name="Oval 15"/>
          <p:cNvSpPr/>
          <p:nvPr/>
        </p:nvSpPr>
        <p:spPr>
          <a:xfrm>
            <a:off x="6278727" y="3063240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9079" y="3008376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Cat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9079" y="330098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state cat × ZIP zone × deductible credit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721607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66744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Risk margin</a:t>
            </a:r>
          </a:p>
        </p:txBody>
      </p:sp>
      <p:sp>
        <p:nvSpPr>
          <p:cNvPr id="21" name="Oval 20"/>
          <p:cNvSpPr/>
          <p:nvPr/>
        </p:nvSpPr>
        <p:spPr>
          <a:xfrm>
            <a:off x="6278727" y="3721607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9079" y="3666744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= Pure risk premium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325112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÷ gross-up → Technical premium</a:t>
            </a:r>
          </a:p>
        </p:txBody>
      </p:sp>
      <p:sp>
        <p:nvSpPr>
          <p:cNvPr id="25" name="Oval 24"/>
          <p:cNvSpPr/>
          <p:nvPr/>
        </p:nvSpPr>
        <p:spPr>
          <a:xfrm>
            <a:off x="6278727" y="437997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079" y="4325112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± UW judgment → GWP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038343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983479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fees + SL tax + stamping → Total due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Rating data model — where state variation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Base rate is NATIONAL (vehicle class × value band). All geographic variation is applied on top as territory-factor tiers. A national base-rate table is not a defect — provided a real per-state (ideally sub-state) territory dimension feeds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2E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Statewide territory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one PD factor per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6818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Metro relativity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city-level, on top of the state 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6396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ZIP-3 catastrophe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garaging-ZIP → cat zone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Today the engine implements the single statewide factor. Metro + ZIP tiers are designed but not yet in the ingestion path (Part 7). </a:t>
            </a:r>
            <a:r>
              <a:rPr sz="1200" b="0" i="0">
                <a:solidFill>
                  <a:srgbClr val="1C2534"/>
                </a:solidFill>
                <a:latin typeface="Consolas"/>
              </a:rPr>
              <a:t>rating_base_rates</a:t>
            </a:r>
            <a:r>
              <a:rPr sz="1200" b="0" i="0">
                <a:solidFill>
                  <a:srgbClr val="1C2534"/>
                </a:solidFill>
                <a:latin typeface="Calibri"/>
              </a:rPr>
              <a:t> stays national with no per-state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State rating registry — the compliance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534"/>
                </a:solidFill>
                <a:latin typeface="Calibri"/>
              </a:rPr>
              <a:t>One record per state per effective-date version. Defines what the engine is </a:t>
            </a:r>
            <a:r>
              <a:rPr sz="1350" b="1" i="0">
                <a:solidFill>
                  <a:srgbClr val="1C2534"/>
                </a:solidFill>
                <a:latin typeface="Calibri"/>
              </a:rPr>
              <a:t>permitted</a:t>
            </a:r>
            <a:r>
              <a:rPr sz="1350" b="0" i="0">
                <a:solidFill>
                  <a:srgbClr val="1C2534"/>
                </a:solidFill>
                <a:latin typeface="Calibri"/>
              </a:rPr>
              <a:t> to do in that state — the legal box the rating stays inside. Holds compliance metadata + a pointer to the filed manual, not the full proprietary rates.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Application arrives with a garaging state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99816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81528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Registry queried for that state's active record (as of rate-effective date)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48456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Engine cross-checks every variable vs. approved_rating_variables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33672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15384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Anything not permitted, or on prohibited_variables → HARD STOP (not a warning)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82312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Quote attaches a decision log citing which permitted variables drove the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Credit-score bans (CA, MA, HI, MI) are enforced as prohibited-variable hard stops — the engine can't even see the variable for a vehicle garaged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AI-governance — built to the strictest bar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534"/>
                </a:solidFill>
                <a:latin typeface="Calibri"/>
              </a:rPr>
              <a:t>AI + external-data underwriting is now regulated state by state. The registry carries an AI-governance block per state; the platform builds to </a:t>
            </a:r>
            <a:r>
              <a:rPr sz="1350" b="1" i="0">
                <a:solidFill>
                  <a:srgbClr val="1C2534"/>
                </a:solidFill>
                <a:latin typeface="Calibri"/>
              </a:rPr>
              <a:t>NY DFS Circular Letter 2024-7</a:t>
            </a:r>
            <a:r>
              <a:rPr sz="1350" b="0" i="0">
                <a:solidFill>
                  <a:srgbClr val="1C2534"/>
                </a:solidFill>
                <a:latin typeface="Calibri"/>
              </a:rPr>
              <a:t> — the strictest — so every other state is a subset, not a special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Every decision logged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which permitted factors drove the price — unredacted, at decision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66818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6818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Explainable adverse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declines/referrals are defensible in a market-conduct exam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56396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6396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Vendor-audit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external tools reviewable; bias-testing evidence per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Colorado (C.R.S. 10-3-1104.9) and NAIC-bulletin states (MA, HI, …) are handled by the same machinery — in an AI-underwriting world,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defensibility is part of the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Odoo — the interface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One rule governs everything: Odoo reads through database VIEWS only (ADR 0006). It doesn't own rating logic, doesn't write rating data directly, doesn't bypass the stored procedures. The DB is the source of truth; Odoo is the human surface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Underwriters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human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3543300"/>
            <a:ext cx="314858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3818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Odoo 19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views only (ADR 0006)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8418" y="3543300"/>
            <a:ext cx="314858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98996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DB views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read-only projections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13596" y="3543300"/>
            <a:ext cx="314859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74175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SECURITY DEFINER RPCs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Built into Odoo:  underwriter roster management (ADR 0038)  ·  underwriter override UI (ADR 0040), where a human confirms or overrides a referred application — all through views over the database.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Caveat: the override UI is on base.group_user for demo speed. Before non-demo use it must move to a dedicated group_underwriting security group (Part 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stored-procedure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34"/>
                </a:solidFill>
                <a:latin typeface="Calibri"/>
              </a:rPr>
              <a:t>The rating + gating logic lives in PostgreSQL stored procedures — </a:t>
            </a:r>
            <a:r>
              <a:rPr sz="1400" b="0" i="0">
                <a:solidFill>
                  <a:srgbClr val="1C2534"/>
                </a:solidFill>
                <a:latin typeface="Consolas"/>
              </a:rPr>
              <a:t>create_quote()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and its helpers — not in application code. This is the single most important structural choice in the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SECURITY DEFINER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06040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functions run with controlled, consistent privileges regardless of caller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3192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search_path pinned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19272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SET search_path = public — deterministic, and the reason demo isolation is a separate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03250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One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32504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every surface (Odoo, dashboards, API) gets identical pricing/gating — no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74573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Auditable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45736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the decision log is written where the decision is 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Commission &amp; profit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C6B7E"/>
                </a:solidFill>
                <a:latin typeface="Calibri"/>
              </a:rPr>
              <a:t>Canonical structure — ADR 0042.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386801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12.5%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3868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Torque MGA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5441" y="2011680"/>
            <a:ext cx="1386801" cy="777240"/>
          </a:xfrm>
          <a:prstGeom prst="rect">
            <a:avLst/>
          </a:prstGeom>
          <a:solidFill>
            <a:srgbClr val="3346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41" y="2834640"/>
            <a:ext cx="13868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Broker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2243" y="2011680"/>
            <a:ext cx="8320811" cy="777240"/>
          </a:xfrm>
          <a:prstGeom prst="rect">
            <a:avLst/>
          </a:prstGeom>
          <a:solidFill>
            <a:srgbClr val="E0A6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C2534"/>
                </a:solidFill>
                <a:latin typeface="Cambria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2243" y="2834640"/>
            <a:ext cx="83208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25% total acquisition · 75% to capacity (10 Lloyd's syndicates modeled at 10% each — actual signed lines differ). Profit commission on a sliding scale: ~0.56 loss ratio → Band 5 → 10%.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42062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3977639"/>
            <a:ext cx="27432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Combined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977639"/>
            <a:ext cx="41449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Net to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ADR 0039 (earlier view)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437997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379976"/>
            <a:ext cx="41449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gross × 0.70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64024"/>
            <a:ext cx="420624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ADR 0042 / workbook (canonical)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4764024"/>
            <a:ext cx="274320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764024"/>
            <a:ext cx="4144975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gross × 0.75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4807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Syndicate panel (workbook)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514807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26.5–28.5% / syndicate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148072"/>
            <a:ext cx="41449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Reconciliation note:</a:t>
            </a:r>
            <a:r>
              <a:rPr sz="1150" b="0" i="0">
                <a:solidFill>
                  <a:srgbClr val="C0392B"/>
                </a:solidFill>
                <a:latin typeface="Calibri"/>
              </a:rPr>
              <a:t> these three framings do not reconcile without annotation — never show side-by-side without it. Waterfall detail stays off investor slides.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Canonical demo dataset (ADR 0043)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3,300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2,414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$23.0M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GWP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0.5604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loss ratio (tech.)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FB0C6"/>
                </a:solidFill>
                <a:latin typeface="Calibri"/>
              </a:rPr>
              <a:t>Technical (rater) basis — pure risk premium ÷ charged GWP, not incurred ÷ earned. Correction pending as ADR 0044.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Frozen, SHA-256-addressed artifact — re-hash to prove you're on the exact same dataset.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Softening/replay constraint (Build 3): the artifact encodes a 12-month softening trend as a per-month index; the live create_quote() RPC re-rates WITHOUT softening. Replay must consume the artifact's premiums directly, or softening must become a rating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FB0C6"/>
                </a:solidFill>
                <a:latin typeface="Calibri"/>
              </a:rPr>
              <a:t>Modeled demonstration · synthetic data · not in-force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What the platform produces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01167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86537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Quotes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9456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priced offers carrying the variables that drove the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07327" y="201167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5967" y="186537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Decision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67" y="219456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per application: which rules fired (reason_codes) + permitted variables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306323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291693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Bordereaux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4612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the premium/claims reports submitted up to the syndicates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78892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07327" y="306323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5967" y="291693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snapshot.json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24612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read-only export the dashboards render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79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11479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3968495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Live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97679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investor dashboard + control panel (Entra-gated)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840479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07327" y="411479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5967" y="3968495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Canonical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4297679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the frozen, hash-verified synthetic book (ADR 0043)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Evidence &amp; verification — where each proof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3774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783080"/>
            <a:ext cx="87169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How to pull the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8541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ADR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8541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docs/decisions/ 0001–0043 — every decision, dated &amp; reviewable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Git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68833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git ls-remote origin refs/heads/main — verify commits against the remote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9125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19125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confirm the specific step appears in the job's step list, not just a green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9417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Demo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69417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query luxauto_demo directly — counts should match snapshot.json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9709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Artifact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19709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re-hash the frozen dataset (SHA-256) — proves identical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001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Live surfaces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70001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dashboards render off a read-only export — evidence, not theater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Through-line: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claim → ADR that decided it → commit on the remote → running service / queryable data → rendered output.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Every link is independently checkable.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7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Where we are —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64327" cy="3840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E76"/>
                </a:solidFill>
                <a:latin typeface="Calibri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72424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Platform live &amp; decision-tracked (40+ ADRs)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Rating engine + referral / compliance gate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Per-state compliance registry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Stored-procedure core (create_quote)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Odoo interface (roster, override UI)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Demo env, dashboards, control panel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Cloud infrastructure stood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364327" cy="3840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7791F"/>
                </a:solidFill>
                <a:latin typeface="Calibr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72424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External data feeds (VIN, title, MVR)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Sanctions / OFAC screening vendor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Sub-state territory pricing (metro + ZIP)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Renewals workflow (undesigned)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group_underwriting security group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Build 3 replay (softening constraint)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State-by-state filings → 50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7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Deferred follow-ups — the backlog with reasons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2004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737360"/>
            <a:ext cx="789401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it's deferred / what it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3969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Territory 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13969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national base + per-state (→ sub-state) factor; the 50-state unlock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7403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rating_base_rates per-state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57403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national table today; no per-state ingestion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0837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group_underwriting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00837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override UI on base.group_user for demo speed — restrict before real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4271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authorized_by_authority_level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44271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snapshot column so overrides freeze authority at insert (audit accuracy)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Sanctions vendor (PC-02)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87705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only hard-decline rule; real compliance exposure, needs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1139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Enrichment stubs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31139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VV-01, VV-02, DH-02, PC-04 await external data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4573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ADR 0044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74573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document loss-ratio basis as technical/rater, not incurred ÷ earned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80075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Renewals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5180075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named but entirely undesigned — largest unscoped piece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8 ·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Reference — ADR index &amp; repo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272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KEY ADRs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57400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reads through views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18588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18588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VM PAT lacks workflow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79776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79776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PC-03 / DH-01 referral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40964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40964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Underwriter roster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02152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02152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Commission waterfall (30% framing)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63339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63339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override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24527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24527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Canonical commission (25%)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85715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85715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Canonical dataset + replay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46903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46903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(pending) loss-ratio basis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1645920"/>
            <a:ext cx="5272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REPO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2057400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docs/decisions/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33172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the ADR trail (0001–0043)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24328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docs/manual/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898648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platform manual (markdown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191256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docs/decks/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3465576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this deck + generator + README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3758184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schemas/db/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032504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postgresql schema, seed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325112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sample-data/demo/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599432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onboard + seed SQL for the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4892040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(branch) 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516636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production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458968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(branch) demo/investor-preview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7" y="5733288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demo environment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32720" y="4937760"/>
            <a:ext cx="502920" cy="50292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One machine, two masters.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0C6"/>
                </a:solidFill>
                <a:latin typeface="Calibri"/>
              </a:rPr>
              <a:t>Everything traces to the binder or the regulator, runs as software wherever it can, and writes down every decision it makes. That's the platform — and that's what lets it stay cheap enough to survive the soft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FB0C6"/>
                </a:solidFill>
                <a:latin typeface="Calibri"/>
              </a:rPr>
              <a:t>Full detail: the platform manual (docs/manual) · the ADR trail (docs/decisions).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4770</Words>
  <Application>Microsoft Office PowerPoint</Application>
  <PresentationFormat>Widescreen</PresentationFormat>
  <Paragraphs>526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Joshua Broedel</dc:creator>
  <cp:keywords/>
  <dc:description>generated using python-pptx</dc:description>
  <cp:lastModifiedBy>Joshua Broedel</cp:lastModifiedBy>
  <cp:revision>1</cp:revision>
  <dcterms:created xsi:type="dcterms:W3CDTF">2013-01-27T09:14:16Z</dcterms:created>
  <dcterms:modified xsi:type="dcterms:W3CDTF">2026-08-30T20:32:29Z</dcterms:modified>
  <cp:category/>
</cp:coreProperties>
</file>