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78" y="2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lineChart>
        <c:grouping val="standard"/>
        <c:varyColors val="0"/>
        <c:ser>
          <c:idx val="0"/>
          <c:order val="0"/>
          <c:tx>
            <c:strRef>
              <c:f>label 0</c:f>
              <c:strCache>
                <c:ptCount val="1"/>
                <c:pt idx="0">
                  <c:v>High-cost carrier / MGA</c:v>
                </c:pt>
              </c:strCache>
            </c:strRef>
          </c:tx>
          <c:spPr>
            <a:ln w="25560">
              <a:solidFill>
                <a:srgbClr val="D64545"/>
              </a:solidFill>
              <a:round/>
            </a:ln>
          </c:spPr>
          <c:marker>
            <c:symbol val="circle"/>
            <c:size val="6"/>
            <c:spPr>
              <a:solidFill>
                <a:srgbClr val="D64545"/>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0</c:f>
              <c:numCache>
                <c:formatCode>General</c:formatCode>
                <c:ptCount val="5"/>
                <c:pt idx="0">
                  <c:v>14</c:v>
                </c:pt>
                <c:pt idx="1">
                  <c:v>9</c:v>
                </c:pt>
                <c:pt idx="2">
                  <c:v>4</c:v>
                </c:pt>
                <c:pt idx="3">
                  <c:v>-1</c:v>
                </c:pt>
                <c:pt idx="4">
                  <c:v>-6</c:v>
                </c:pt>
              </c:numCache>
            </c:numRef>
          </c:val>
          <c:smooth val="0"/>
          <c:extLst>
            <c:ext xmlns:c16="http://schemas.microsoft.com/office/drawing/2014/chart" uri="{C3380CC4-5D6E-409C-BE32-E72D297353CC}">
              <c16:uniqueId val="{00000000-3A94-40FE-A6ED-04F482A98AFD}"/>
            </c:ext>
          </c:extLst>
        </c:ser>
        <c:ser>
          <c:idx val="1"/>
          <c:order val="1"/>
          <c:tx>
            <c:strRef>
              <c:f>label 1</c:f>
              <c:strCache>
                <c:ptCount val="1"/>
                <c:pt idx="0">
                  <c:v>Torque (lean MGA)</c:v>
                </c:pt>
              </c:strCache>
            </c:strRef>
          </c:tx>
          <c:spPr>
            <a:ln w="25560">
              <a:solidFill>
                <a:srgbClr val="E0A62E"/>
              </a:solidFill>
              <a:round/>
            </a:ln>
          </c:spPr>
          <c:marker>
            <c:symbol val="circle"/>
            <c:size val="6"/>
            <c:spPr>
              <a:solidFill>
                <a:srgbClr val="E0A62E"/>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1</c:f>
              <c:numCache>
                <c:formatCode>General</c:formatCode>
                <c:ptCount val="5"/>
                <c:pt idx="0">
                  <c:v>20</c:v>
                </c:pt>
                <c:pt idx="1">
                  <c:v>16</c:v>
                </c:pt>
                <c:pt idx="2">
                  <c:v>12</c:v>
                </c:pt>
                <c:pt idx="3">
                  <c:v>9</c:v>
                </c:pt>
                <c:pt idx="4">
                  <c:v>6</c:v>
                </c:pt>
              </c:numCache>
            </c:numRef>
          </c:val>
          <c:smooth val="0"/>
          <c:extLst>
            <c:ext xmlns:c16="http://schemas.microsoft.com/office/drawing/2014/chart" uri="{C3380CC4-5D6E-409C-BE32-E72D297353CC}">
              <c16:uniqueId val="{00000001-3A94-40FE-A6ED-04F482A98AFD}"/>
            </c:ext>
          </c:extLst>
        </c:ser>
        <c:ser>
          <c:idx val="2"/>
          <c:order val="2"/>
          <c:tx>
            <c:strRef>
              <c:f>label 2</c:f>
              <c:strCache>
                <c:ptCount val="1"/>
                <c:pt idx="0">
                  <c:v>Breakeven</c:v>
                </c:pt>
              </c:strCache>
            </c:strRef>
          </c:tx>
          <c:spPr>
            <a:ln w="25560">
              <a:solidFill>
                <a:srgbClr val="AEB9C7"/>
              </a:solidFill>
              <a:round/>
            </a:ln>
          </c:spPr>
          <c:marker>
            <c:symbol val="circle"/>
            <c:size val="6"/>
            <c:spPr>
              <a:solidFill>
                <a:srgbClr val="AEB9C7"/>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2</c:f>
              <c:numCache>
                <c:formatCode>General</c:formatCode>
                <c:ptCount val="5"/>
                <c:pt idx="0">
                  <c:v>0</c:v>
                </c:pt>
                <c:pt idx="1">
                  <c:v>0</c:v>
                </c:pt>
                <c:pt idx="2">
                  <c:v>0</c:v>
                </c:pt>
                <c:pt idx="3">
                  <c:v>0</c:v>
                </c:pt>
                <c:pt idx="4">
                  <c:v>0</c:v>
                </c:pt>
              </c:numCache>
            </c:numRef>
          </c:val>
          <c:smooth val="0"/>
          <c:extLst>
            <c:ext xmlns:c16="http://schemas.microsoft.com/office/drawing/2014/chart" uri="{C3380CC4-5D6E-409C-BE32-E72D297353CC}">
              <c16:uniqueId val="{00000002-3A94-40FE-A6ED-04F482A98AFD}"/>
            </c:ext>
          </c:extLst>
        </c:ser>
        <c:dLbls>
          <c:showLegendKey val="0"/>
          <c:showVal val="0"/>
          <c:showCatName val="0"/>
          <c:showSerName val="0"/>
          <c:showPercent val="0"/>
          <c:showBubbleSize val="0"/>
        </c:dLbls>
        <c:hiLowLines>
          <c:spPr>
            <a:ln w="0">
              <a:noFill/>
            </a:ln>
          </c:spPr>
        </c:hiLowLines>
        <c:marker val="1"/>
        <c:smooth val="0"/>
        <c:axId val="39845137"/>
        <c:axId val="36146900"/>
      </c:lineChart>
      <c:catAx>
        <c:axId val="39845137"/>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100" b="0" strike="noStrike" spc="-1">
                <a:solidFill>
                  <a:srgbClr val="5C6B7E"/>
                </a:solidFill>
                <a:latin typeface="Calibri"/>
              </a:defRPr>
            </a:pPr>
            <a:endParaRPr lang="en-US"/>
          </a:p>
        </c:txPr>
        <c:crossAx val="36146900"/>
        <c:crosses val="autoZero"/>
        <c:auto val="1"/>
        <c:lblAlgn val="ctr"/>
        <c:lblOffset val="100"/>
        <c:noMultiLvlLbl val="0"/>
      </c:catAx>
      <c:valAx>
        <c:axId val="36146900"/>
        <c:scaling>
          <c:orientation val="minMax"/>
          <c:max val="24"/>
          <c:min val="-10"/>
        </c:scaling>
        <c:delete val="0"/>
        <c:axPos val="l"/>
        <c:majorGridlines>
          <c:spPr>
            <a:ln w="12600">
              <a:solidFill>
                <a:srgbClr val="EDF0F5"/>
              </a:solidFill>
              <a:round/>
            </a:ln>
          </c:spPr>
        </c:majorGridlines>
        <c:title>
          <c:tx>
            <c:rich>
              <a:bodyPr rot="-5400000"/>
              <a:lstStyle/>
              <a:p>
                <a:pPr>
                  <a:defRPr sz="1100" b="0" strike="noStrike" spc="-1">
                    <a:solidFill>
                      <a:srgbClr val="5C6B7E"/>
                    </a:solidFill>
                    <a:latin typeface="Arial"/>
                  </a:defRPr>
                </a:pPr>
                <a:r>
                  <a:rPr sz="1100" b="0" strike="noStrike" spc="-1">
                    <a:solidFill>
                      <a:srgbClr val="5C6B7E"/>
                    </a:solidFill>
                    <a:latin typeface="Arial"/>
                  </a:rPr>
                  <a:t>Underwriting margin  (%)</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sz="1100" b="0" strike="noStrike" spc="-1">
                <a:solidFill>
                  <a:srgbClr val="5C6B7E"/>
                </a:solidFill>
                <a:latin typeface="Calibri"/>
              </a:defRPr>
            </a:pPr>
            <a:endParaRPr lang="en-US"/>
          </a:p>
        </c:txPr>
        <c:crossAx val="39845137"/>
        <c:crosses val="autoZero"/>
        <c:crossBetween val="between"/>
        <c:majorUnit val="8"/>
      </c:valAx>
      <c:spPr>
        <a:noFill/>
        <a:ln w="0">
          <a:noFill/>
        </a:ln>
      </c:spPr>
    </c:plotArea>
    <c:legend>
      <c:legendPos val="b"/>
      <c:overlay val="0"/>
      <c:spPr>
        <a:noFill/>
        <a:ln w="0">
          <a:noFill/>
        </a:ln>
      </c:spPr>
      <c:txPr>
        <a:bodyPr/>
        <a:lstStyle/>
        <a:p>
          <a:pPr>
            <a:defRPr sz="1100" b="0" strike="noStrike" spc="-1">
              <a:solidFill>
                <a:srgbClr val="1C2534"/>
              </a:solidFill>
              <a:latin typeface="Calibri"/>
            </a:defRPr>
          </a:pPr>
          <a:endParaRPr lang="en-US"/>
        </a:p>
      </c:txPr>
    </c:legend>
    <c:plotVisOnly val="1"/>
    <c:dispBlanksAs val="span"/>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CC1FBAFE-BB4B-4794-9A08-68A08D59FC61}"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noRot="1" noChangeAspect="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Opening frame. One sentence: Torque is a technology-first MGA writing luxury and collector auto on Lloyd's paper — we run underwriting as software so our cost base is structurally lower than anyone we compete with. Set up that the whole pitch is one idea: in insurance, the durable edge is cost, and we built the machine to win on cost. This is the working scaffold — swap in the logo, tighten to the room.</a:t>
            </a:r>
          </a:p>
        </p:txBody>
      </p:sp>
      <p:sp>
        <p:nvSpPr>
          <p:cNvPr id="21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41E9B7E-7335-43C0-ABAD-F70F67E7D8D3}"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noRot="1" noChangeAspect="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Anchor the model. An MGA is a licensed underwriting operation that runs on someone else's balance sheet — Lloyd's syndicates back us. That's the key economic fact: we don't need insurer capital, we earn fees and a profit share. The third pillar is the whole story — 'automation-first cost base' is why we win. Land the three pillars and move on.</a:t>
            </a:r>
          </a:p>
        </p:txBody>
      </p:sp>
      <p:sp>
        <p:nvSpPr>
          <p:cNvPr id="21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A97243A-5F4A-4194-8D34-3551842E53F6}"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noRot="1" noChangeAspect="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Set up the pain. This is the cyclicality everyone in insurance knows but few build for. Rates and commissions are market-set and they compress in a soft market; your expense base — people, systems, overhead — does not. The MGAs that die are the ones whose expense ratio was fine at peak rates and fatal at trough rates. This is the problem we designed the company around.</a:t>
            </a:r>
          </a:p>
        </p:txBody>
      </p:sp>
      <p:sp>
        <p:nvSpPr>
          <p:cNvPr id="22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8644246-4A90-4B99-8830-502B50BBD91C}"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1"/>
          <p:cNvSpPr>
            <a:spLocks noGrp="1" noRot="1" noChangeAspect="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intellectual core. Two levers: loss cost and expense. You cannot win on loss cost — claims cost what they cost, and pretending otherwise is how you go broke. You CAN win on expense, and expense is most of the fight. So we deliberately do not compete on underpricing risk; we compete on being the cheapest operator. Say plainly: we are not smarter at picking risk, we are structurally cheaper at running the business.</a:t>
            </a:r>
          </a:p>
        </p:txBody>
      </p:sp>
      <p:sp>
        <p:nvSpPr>
          <p:cNvPr id="22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53BF504-5A1B-4870-9E5B-E80116859F55}"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noRot="1" noChangeAspect="1"/>
          </p:cNvSpPr>
          <p:nvPr>
            <p:ph type="sldImg"/>
          </p:nvPr>
        </p:nvSpPr>
        <p:spPr>
          <a:xfrm>
            <a:off x="685800" y="1143000"/>
            <a:ext cx="5486400" cy="308610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emotional peak of the deck — slow down here. Walk the two lines left to right. In a hard market everyone makes money, so nobody's edge is visible. As rates soften, the high-cost operator's margin erodes and crosses below breakeven — that's the red line going underwater. Our line bends toward the same pressure but stays profitable, because our cost base is so much lower. The gap between the lines at the right edge is the whole investment case. Stress that it's illustrative — it shows the mechanism, and the mechanism is real: loss cost is shared by everyone, expense is not.</a:t>
            </a:r>
          </a:p>
        </p:txBody>
      </p:sp>
      <p:sp>
        <p:nvSpPr>
          <p:cNvPr id="22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9B96F73-4741-4ADA-8601-5FDFAA51D956}"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noRot="1" noChangeAspect="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Demystify the automation without drowning them in detail. Five stages: take it in, enrich it with outside data, gate it, price it, quote it. The one to emphasize is the referral gate — that's what makes automation safe. It catches anything that needs a human (fraud signals, DUIs, sanctions, missing data, out-of-appetite) BEFORE pricing, so the machine only auto-quotes the clean stuff. That's how you get low cost without losing control.</a:t>
            </a:r>
          </a:p>
        </p:txBody>
      </p:sp>
      <p:sp>
        <p:nvSpPr>
          <p:cNvPr id="22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C760259-04C2-401D-BAA4-5E9AD909FFAC}"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noRot="1" noChangeAspect="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Turn the scariest thing about AI underwriting — regulation — into an advantage. Regulators (NY DFS leading) now demand that algorithmic underwriting be explainable and non-discriminatory. Most startups treat that as a tax. We built to the hardest standard from day one, so compliance is a moat: it's expensive for a sloppy competitor to retrofit, and it lets us enter any state without re-architecting. Defensibility isn't overhead here — it's part of what we're selling.</a:t>
            </a:r>
          </a:p>
        </p:txBody>
      </p:sp>
      <p:sp>
        <p:nvSpPr>
          <p:cNvPr id="23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0943CC7-6900-487A-8B15-BE0DCC9B524D}"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noRot="1" noChangeAspect="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proves the thing is real, not a slideware concept. The full pipeline runs end to end on a synthetic book, four states are onboarded with their compliance rules live, and there's a working dashboard you can show. Be scrupulous — and Kent, keep this scrupulous in the investor cut too: these numbers are a MODELED demonstration on synthetic data. They prove the machine works, not that we've sold policies. Do not let anyone read $23M as traction. The honesty here is itself a credibility signal.</a:t>
            </a:r>
          </a:p>
        </p:txBody>
      </p:sp>
      <p:sp>
        <p:nvSpPr>
          <p:cNvPr id="23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3D1A7B3-24D7-4DAF-BC03-D5A0504ECBBE}"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laceHolder 1"/>
          <p:cNvSpPr>
            <a:spLocks noGrp="1" noRot="1" noChangeAspect="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Keep this structural, not a full P&amp;L (that's the next slide). The premium splits three ways: our MGA commission, the broker's, and the majority to the syndicates who carry the risk. The point isn't the exact split — it's the operating leverage: our costs are software costs, so they don't scale linearly with the book. That's the mechanism behind the crossover chart. Deliberately NOT showing the full model here — that stays a placeholder until the numbers are cleared.</a:t>
            </a:r>
          </a:p>
        </p:txBody>
      </p:sp>
      <p:sp>
        <p:nvSpPr>
          <p:cNvPr id="23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B82950D-0AC3-4D82-AD7C-D48227356D53}"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noRot="1" noChangeAspect="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Intentional placeholder. The full financial model and unit economics belong here, but those figures need to be cleared before they go on an investor slide — and the plan-level opex is calibrated to a much larger GWP than the demo, so the two can't be mashed together without a reconciliation note. Kent: this is where your model slots in. Keep loss ratio labeled as technical/rater basis so it isn't mistaken for an accounting loss ratio.</a:t>
            </a:r>
          </a:p>
        </p:txBody>
      </p:sp>
      <p:sp>
        <p:nvSpPr>
          <p:cNvPr id="24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F07303-75B4-400C-8D51-972598B17A10}"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noRot="1" noChangeAspect="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Credibility through candor. The platform, the engine, the compliance registry, the demo and the infra are real and built. The 'Next' column is honest about what's stubbed or unbuilt — external data integrations, a sanctions vendor, sub-state pricing depth, renewals, and the actual state filings. Investors trust a founder who names what isn't done. Don't oversell the left column or hide the right one.</a:t>
            </a:r>
          </a:p>
        </p:txBody>
      </p:sp>
      <p:sp>
        <p:nvSpPr>
          <p:cNvPr id="24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19E1D3F-A2D3-4648-88B7-11F0EBE82012}"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noRot="1" noChangeAspect="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Show the scaling logic so 50 states doesn't sound like 50 rebuilds. The architectural trick: base rates are national, and only a territory factor varies by state — so onboarding a state is a data + filing exercise, not an engineering rebuild. Phase 2 deepens pricing granularity (metro, ZIP cat zones); Phase 3 is breadth plus renewals. Keep it directional; exact timing goes with the model.</a:t>
            </a:r>
          </a:p>
        </p:txBody>
      </p:sp>
      <p:sp>
        <p:nvSpPr>
          <p:cNvPr id="24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52D7CC8-BFED-466D-A411-A6E14D75C3E7}"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noRot="1" noChangeAspect="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Close on the thesis, not the mechanics. Restate the one sentence: we're the operator whose cost base lets us stay profitable through the soft market that takes everyone else out. The four use-of-funds buckets are the scaffold — Kent sets the raise number and the split. End on the tagline; that's the line you want them repeating in the partner meeting.</a:t>
            </a:r>
          </a:p>
        </p:txBody>
      </p:sp>
      <p:sp>
        <p:nvSpPr>
          <p:cNvPr id="25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4ED011-7FEA-425C-BD52-7AF7D9249722}"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B2A"/>
        </a:solidFill>
        <a:effectLst/>
      </p:bgPr>
    </p:bg>
    <p:spTree>
      <p:nvGrpSpPr>
        <p:cNvPr id="1" name=""/>
        <p:cNvGrpSpPr/>
        <p:nvPr/>
      </p:nvGrpSpPr>
      <p:grpSpPr>
        <a:xfrm>
          <a:off x="0" y="0"/>
          <a:ext cx="0" cy="0"/>
          <a:chOff x="0" y="0"/>
          <a:chExt cx="0" cy="0"/>
        </a:xfrm>
      </p:grpSpPr>
      <p:sp>
        <p:nvSpPr>
          <p:cNvPr id="8" name="Shape 0"/>
          <p:cNvSpPr/>
          <p:nvPr/>
        </p:nvSpPr>
        <p:spPr>
          <a:xfrm>
            <a:off x="9144000" y="1005840"/>
            <a:ext cx="3108600" cy="3108600"/>
          </a:xfrm>
          <a:prstGeom prst="blockArc">
            <a:avLst>
              <a:gd name="adj1" fmla="val 8400000"/>
              <a:gd name="adj2" fmla="val 2400000"/>
              <a:gd name="adj3" fmla="val 25000"/>
            </a:avLst>
          </a:prstGeom>
          <a:solidFill>
            <a:srgbClr val="E0A62E">
              <a:alpha val="22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 name="Shape 1"/>
          <p:cNvSpPr/>
          <p:nvPr/>
        </p:nvSpPr>
        <p:spPr>
          <a:xfrm>
            <a:off x="10378440" y="2240280"/>
            <a:ext cx="639720" cy="639720"/>
          </a:xfrm>
          <a:prstGeom prst="ellipse">
            <a:avLst/>
          </a:prstGeom>
          <a:solidFill>
            <a:srgbClr val="E0A62E"/>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 name="Text 2"/>
          <p:cNvSpPr/>
          <p:nvPr/>
        </p:nvSpPr>
        <p:spPr>
          <a:xfrm>
            <a:off x="685800" y="2331720"/>
            <a:ext cx="86864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600" b="1" strike="noStrike" spc="-1">
                <a:solidFill>
                  <a:srgbClr val="FFFFFF"/>
                </a:solidFill>
                <a:latin typeface="Cambria"/>
                <a:ea typeface="Cambria"/>
              </a:rPr>
              <a:t>TORQUE UNDERWRITERS</a:t>
            </a:r>
            <a:endParaRPr lang="en-US" sz="4600" b="0" strike="noStrike" spc="-1">
              <a:solidFill>
                <a:srgbClr val="FFFFFF"/>
              </a:solidFill>
              <a:latin typeface="Arial"/>
            </a:endParaRPr>
          </a:p>
        </p:txBody>
      </p:sp>
      <p:sp>
        <p:nvSpPr>
          <p:cNvPr id="11" name="Text 3"/>
          <p:cNvSpPr/>
          <p:nvPr/>
        </p:nvSpPr>
        <p:spPr>
          <a:xfrm>
            <a:off x="731520" y="333756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strike="noStrike" spc="-1">
                <a:solidFill>
                  <a:srgbClr val="E0A62E"/>
                </a:solidFill>
                <a:latin typeface="Calibri"/>
                <a:ea typeface="Calibri"/>
              </a:rPr>
              <a:t>A tech-enabled MGA for luxury &amp; collector auto</a:t>
            </a:r>
            <a:endParaRPr lang="en-US" sz="2000" b="0" strike="noStrike" spc="-1">
              <a:solidFill>
                <a:srgbClr val="FFFFFF"/>
              </a:solidFill>
              <a:latin typeface="Arial"/>
            </a:endParaRPr>
          </a:p>
        </p:txBody>
      </p:sp>
      <p:sp>
        <p:nvSpPr>
          <p:cNvPr id="12" name="Text 4"/>
          <p:cNvSpPr/>
          <p:nvPr/>
        </p:nvSpPr>
        <p:spPr>
          <a:xfrm>
            <a:off x="731520" y="384048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9FB0C6"/>
                </a:solidFill>
                <a:latin typeface="Calibri"/>
                <a:ea typeface="Calibri"/>
              </a:rPr>
              <a:t>Lloyd's-backed delegated underwriting · automation-first cost base</a:t>
            </a:r>
            <a:endParaRPr lang="en-US" sz="1400" b="0" strike="noStrike" spc="-1">
              <a:solidFill>
                <a:srgbClr val="FFFFFF"/>
              </a:solidFill>
              <a:latin typeface="Arial"/>
            </a:endParaRPr>
          </a:p>
        </p:txBody>
      </p:sp>
      <p:sp>
        <p:nvSpPr>
          <p:cNvPr id="13" name="Text 5"/>
          <p:cNvSpPr/>
          <p:nvPr/>
        </p:nvSpPr>
        <p:spPr>
          <a:xfrm>
            <a:off x="731520" y="5806440"/>
            <a:ext cx="2742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465F"/>
                </a:solidFill>
                <a:latin typeface="Calibri"/>
                <a:ea typeface="Calibri"/>
              </a:rPr>
              <a:t>[ COMPANY LOGO ]</a:t>
            </a:r>
            <a:endParaRPr lang="en-US" sz="1000" b="0" strike="noStrike" spc="-1">
              <a:solidFill>
                <a:srgbClr val="FFFFFF"/>
              </a:solidFill>
              <a:latin typeface="Arial"/>
            </a:endParaRPr>
          </a:p>
        </p:txBody>
      </p:sp>
      <p:sp>
        <p:nvSpPr>
          <p:cNvPr id="14" name="Text 6"/>
          <p:cNvSpPr/>
          <p:nvPr/>
        </p:nvSpPr>
        <p:spPr>
          <a:xfrm>
            <a:off x="8503920" y="6309360"/>
            <a:ext cx="3017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9FB0C6"/>
                </a:solidFill>
                <a:latin typeface="Calibri"/>
                <a:ea typeface="Calibri"/>
              </a:rPr>
              <a:t>Confidential · working draft</a:t>
            </a:r>
            <a:endParaRPr lang="en-US" sz="10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ONE-LINER</a:t>
            </a:r>
            <a:endParaRPr lang="en-US" sz="1200" b="0" strike="noStrike" spc="-1">
              <a:solidFill>
                <a:srgbClr val="000000"/>
              </a:solidFill>
              <a:latin typeface="Arial"/>
            </a:endParaRPr>
          </a:p>
        </p:txBody>
      </p:sp>
      <p:sp>
        <p:nvSpPr>
          <p:cNvPr id="16"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What Torque Underwriters is</a:t>
            </a:r>
            <a:endParaRPr lang="en-US" sz="3200" b="0" strike="noStrike" spc="-1">
              <a:solidFill>
                <a:srgbClr val="000000"/>
              </a:solidFill>
              <a:latin typeface="Arial"/>
            </a:endParaRPr>
          </a:p>
        </p:txBody>
      </p:sp>
      <p:sp>
        <p:nvSpPr>
          <p:cNvPr id="17" name="Text 2"/>
          <p:cNvSpPr/>
          <p:nvPr/>
        </p:nvSpPr>
        <p:spPr>
          <a:xfrm>
            <a:off x="640080" y="1737360"/>
            <a:ext cx="108810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800" b="0" strike="noStrike" spc="-1">
                <a:solidFill>
                  <a:srgbClr val="1C2534"/>
                </a:solidFill>
                <a:latin typeface="Calibri"/>
                <a:ea typeface="Calibri"/>
              </a:rPr>
              <a:t>We do everything an insurer does at the front line — take the risk in, price it, decide it, issue it — </a:t>
            </a:r>
            <a:r>
              <a:rPr lang="en-US" sz="1800" b="1" strike="noStrike" spc="-1">
                <a:solidFill>
                  <a:srgbClr val="B7791F"/>
                </a:solidFill>
                <a:latin typeface="Calibri"/>
                <a:ea typeface="Calibri"/>
              </a:rPr>
              <a:t>without carrying the risk on our own balance sheet.</a:t>
            </a:r>
            <a:endParaRPr lang="en-US" sz="1800" b="0" strike="noStrike" spc="-1">
              <a:solidFill>
                <a:srgbClr val="000000"/>
              </a:solidFill>
              <a:latin typeface="Arial"/>
            </a:endParaRPr>
          </a:p>
        </p:txBody>
      </p:sp>
      <p:sp>
        <p:nvSpPr>
          <p:cNvPr id="18" name="Shape 3"/>
          <p:cNvSpPr/>
          <p:nvPr/>
        </p:nvSpPr>
        <p:spPr>
          <a:xfrm>
            <a:off x="640080" y="2880360"/>
            <a:ext cx="3428640" cy="2651400"/>
          </a:xfrm>
          <a:prstGeom prst="roundRect">
            <a:avLst>
              <a:gd name="adj" fmla="val 206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 name="Shape 4"/>
          <p:cNvSpPr/>
          <p:nvPr/>
        </p:nvSpPr>
        <p:spPr>
          <a:xfrm>
            <a:off x="960120" y="3200400"/>
            <a:ext cx="456840" cy="456840"/>
          </a:xfrm>
          <a:prstGeom prst="ellipse">
            <a:avLst/>
          </a:prstGeom>
          <a:solidFill>
            <a:srgbClr val="1F3A5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 name="Text 5"/>
          <p:cNvSpPr/>
          <p:nvPr/>
        </p:nvSpPr>
        <p:spPr>
          <a:xfrm>
            <a:off x="960120" y="32004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E0A62E"/>
                </a:solidFill>
                <a:latin typeface="Cambria"/>
                <a:ea typeface="Cambria"/>
              </a:rPr>
              <a:t>1</a:t>
            </a:r>
            <a:endParaRPr lang="en-US" sz="1800" b="0" strike="noStrike" spc="-1">
              <a:solidFill>
                <a:srgbClr val="000000"/>
              </a:solidFill>
              <a:latin typeface="Arial"/>
            </a:endParaRPr>
          </a:p>
        </p:txBody>
      </p:sp>
      <p:sp>
        <p:nvSpPr>
          <p:cNvPr id="21" name="Text 6"/>
          <p:cNvSpPr/>
          <p:nvPr/>
        </p:nvSpPr>
        <p:spPr>
          <a:xfrm>
            <a:off x="960120" y="384048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C2534"/>
                </a:solidFill>
                <a:latin typeface="Cambria"/>
                <a:ea typeface="Cambria"/>
              </a:rPr>
              <a:t>Delegated Lloyd's authority</a:t>
            </a:r>
            <a:endParaRPr lang="en-US" sz="1600" b="0" strike="noStrike" spc="-1">
              <a:solidFill>
                <a:srgbClr val="000000"/>
              </a:solidFill>
              <a:latin typeface="Arial"/>
            </a:endParaRPr>
          </a:p>
        </p:txBody>
      </p:sp>
      <p:sp>
        <p:nvSpPr>
          <p:cNvPr id="22" name="Text 7"/>
          <p:cNvSpPr/>
          <p:nvPr/>
        </p:nvSpPr>
        <p:spPr>
          <a:xfrm>
            <a:off x="960120" y="4526280"/>
            <a:ext cx="2834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strike="noStrike" spc="-1">
                <a:solidFill>
                  <a:srgbClr val="5C6B7E"/>
                </a:solidFill>
                <a:latin typeface="Calibri"/>
                <a:ea typeface="Calibri"/>
              </a:rPr>
              <a:t>We underwrite on syndicate paper under a binding authority — a Lloyd's coverholder.</a:t>
            </a:r>
            <a:endParaRPr lang="en-US" sz="1250" b="0" strike="noStrike" spc="-1">
              <a:solidFill>
                <a:srgbClr val="000000"/>
              </a:solidFill>
              <a:latin typeface="Arial"/>
            </a:endParaRPr>
          </a:p>
        </p:txBody>
      </p:sp>
      <p:sp>
        <p:nvSpPr>
          <p:cNvPr id="23" name="Shape 8"/>
          <p:cNvSpPr/>
          <p:nvPr/>
        </p:nvSpPr>
        <p:spPr>
          <a:xfrm>
            <a:off x="4325040" y="2880360"/>
            <a:ext cx="3428640" cy="2651400"/>
          </a:xfrm>
          <a:prstGeom prst="roundRect">
            <a:avLst>
              <a:gd name="adj" fmla="val 206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 name="Shape 9"/>
          <p:cNvSpPr/>
          <p:nvPr/>
        </p:nvSpPr>
        <p:spPr>
          <a:xfrm>
            <a:off x="4645080" y="3200400"/>
            <a:ext cx="456840" cy="456840"/>
          </a:xfrm>
          <a:prstGeom prst="ellipse">
            <a:avLst/>
          </a:prstGeom>
          <a:solidFill>
            <a:srgbClr val="1F3A5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 name="Text 10"/>
          <p:cNvSpPr/>
          <p:nvPr/>
        </p:nvSpPr>
        <p:spPr>
          <a:xfrm>
            <a:off x="4645080" y="32004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E0A62E"/>
                </a:solidFill>
                <a:latin typeface="Cambria"/>
                <a:ea typeface="Cambria"/>
              </a:rPr>
              <a:t>2</a:t>
            </a:r>
            <a:endParaRPr lang="en-US" sz="1800" b="0" strike="noStrike" spc="-1">
              <a:solidFill>
                <a:srgbClr val="000000"/>
              </a:solidFill>
              <a:latin typeface="Arial"/>
            </a:endParaRPr>
          </a:p>
        </p:txBody>
      </p:sp>
      <p:sp>
        <p:nvSpPr>
          <p:cNvPr id="26" name="Text 11"/>
          <p:cNvSpPr/>
          <p:nvPr/>
        </p:nvSpPr>
        <p:spPr>
          <a:xfrm>
            <a:off x="4645080" y="384048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C2534"/>
                </a:solidFill>
                <a:latin typeface="Cambria"/>
                <a:ea typeface="Cambria"/>
              </a:rPr>
              <a:t>No balance-sheet risk</a:t>
            </a:r>
            <a:endParaRPr lang="en-US" sz="1600" b="0" strike="noStrike" spc="-1">
              <a:solidFill>
                <a:srgbClr val="000000"/>
              </a:solidFill>
              <a:latin typeface="Arial"/>
            </a:endParaRPr>
          </a:p>
        </p:txBody>
      </p:sp>
      <p:sp>
        <p:nvSpPr>
          <p:cNvPr id="27" name="Text 12"/>
          <p:cNvSpPr/>
          <p:nvPr/>
        </p:nvSpPr>
        <p:spPr>
          <a:xfrm>
            <a:off x="4645080" y="4526280"/>
            <a:ext cx="2834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strike="noStrike" spc="-1">
                <a:solidFill>
                  <a:srgbClr val="5C6B7E"/>
                </a:solidFill>
                <a:latin typeface="Calibri"/>
                <a:ea typeface="Calibri"/>
              </a:rPr>
              <a:t>Capacity carries the claims. We earn commission on premium, plus a profit share when the book performs.</a:t>
            </a:r>
            <a:endParaRPr lang="en-US" sz="1250" b="0" strike="noStrike" spc="-1">
              <a:solidFill>
                <a:srgbClr val="000000"/>
              </a:solidFill>
              <a:latin typeface="Arial"/>
            </a:endParaRPr>
          </a:p>
        </p:txBody>
      </p:sp>
      <p:sp>
        <p:nvSpPr>
          <p:cNvPr id="28" name="Shape 13"/>
          <p:cNvSpPr/>
          <p:nvPr/>
        </p:nvSpPr>
        <p:spPr>
          <a:xfrm>
            <a:off x="8010000" y="2880360"/>
            <a:ext cx="3428640" cy="2651400"/>
          </a:xfrm>
          <a:prstGeom prst="roundRect">
            <a:avLst>
              <a:gd name="adj" fmla="val 206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 name="Shape 14"/>
          <p:cNvSpPr/>
          <p:nvPr/>
        </p:nvSpPr>
        <p:spPr>
          <a:xfrm>
            <a:off x="8330040" y="3200400"/>
            <a:ext cx="456840" cy="456840"/>
          </a:xfrm>
          <a:prstGeom prst="ellipse">
            <a:avLst/>
          </a:prstGeom>
          <a:solidFill>
            <a:srgbClr val="1F3A5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 name="Text 15"/>
          <p:cNvSpPr/>
          <p:nvPr/>
        </p:nvSpPr>
        <p:spPr>
          <a:xfrm>
            <a:off x="8330040" y="32004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E0A62E"/>
                </a:solidFill>
                <a:latin typeface="Cambria"/>
                <a:ea typeface="Cambria"/>
              </a:rPr>
              <a:t>3</a:t>
            </a:r>
            <a:endParaRPr lang="en-US" sz="1800" b="0" strike="noStrike" spc="-1">
              <a:solidFill>
                <a:srgbClr val="000000"/>
              </a:solidFill>
              <a:latin typeface="Arial"/>
            </a:endParaRPr>
          </a:p>
        </p:txBody>
      </p:sp>
      <p:sp>
        <p:nvSpPr>
          <p:cNvPr id="31" name="Text 16"/>
          <p:cNvSpPr/>
          <p:nvPr/>
        </p:nvSpPr>
        <p:spPr>
          <a:xfrm>
            <a:off x="8330040" y="384048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C2534"/>
                </a:solidFill>
                <a:latin typeface="Cambria"/>
                <a:ea typeface="Cambria"/>
              </a:rPr>
              <a:t>Automation-first cost base</a:t>
            </a:r>
            <a:endParaRPr lang="en-US" sz="1600" b="0" strike="noStrike" spc="-1">
              <a:solidFill>
                <a:srgbClr val="000000"/>
              </a:solidFill>
              <a:latin typeface="Arial"/>
            </a:endParaRPr>
          </a:p>
        </p:txBody>
      </p:sp>
      <p:sp>
        <p:nvSpPr>
          <p:cNvPr id="32" name="Text 17"/>
          <p:cNvSpPr/>
          <p:nvPr/>
        </p:nvSpPr>
        <p:spPr>
          <a:xfrm>
            <a:off x="8330040" y="4526280"/>
            <a:ext cx="2834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50" b="0" strike="noStrike" spc="-1">
                <a:solidFill>
                  <a:srgbClr val="5C6B7E"/>
                </a:solidFill>
                <a:latin typeface="Calibri"/>
                <a:ea typeface="Calibri"/>
              </a:rPr>
              <a:t>The whole lifecycle runs as software. Humans step in only where compliance or judgment requires.</a:t>
            </a:r>
            <a:endParaRPr lang="en-US" sz="1250" b="0" strike="noStrike" spc="-1">
              <a:solidFill>
                <a:srgbClr val="000000"/>
              </a:solidFill>
              <a:latin typeface="Arial"/>
            </a:endParaRPr>
          </a:p>
        </p:txBody>
      </p:sp>
      <p:sp>
        <p:nvSpPr>
          <p:cNvPr id="33" name="Text 18"/>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34" name="Text 19"/>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02</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35"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MARKET REALITY</a:t>
            </a:r>
            <a:endParaRPr lang="en-US" sz="1200" b="0" strike="noStrike" spc="-1">
              <a:solidFill>
                <a:srgbClr val="000000"/>
              </a:solidFill>
              <a:latin typeface="Arial"/>
            </a:endParaRPr>
          </a:p>
        </p:txBody>
      </p:sp>
      <p:sp>
        <p:nvSpPr>
          <p:cNvPr id="36"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The cycle punishes fixed cost</a:t>
            </a:r>
            <a:endParaRPr lang="en-US" sz="3200" b="0" strike="noStrike" spc="-1">
              <a:solidFill>
                <a:srgbClr val="000000"/>
              </a:solidFill>
              <a:latin typeface="Arial"/>
            </a:endParaRPr>
          </a:p>
        </p:txBody>
      </p:sp>
      <p:sp>
        <p:nvSpPr>
          <p:cNvPr id="37" name="Text 2"/>
          <p:cNvSpPr/>
          <p:nvPr/>
        </p:nvSpPr>
        <p:spPr>
          <a:xfrm>
            <a:off x="640080" y="1691640"/>
            <a:ext cx="106066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700" b="0" strike="noStrike" spc="-1">
                <a:solidFill>
                  <a:srgbClr val="1C2534"/>
                </a:solidFill>
                <a:latin typeface="Calibri"/>
                <a:ea typeface="Calibri"/>
              </a:rPr>
              <a:t>Insurance rates rise and fall in cycles. When the market softens, rates fall and commissions compress — but the cost of running an insurer doesn't move with them.</a:t>
            </a:r>
            <a:endParaRPr lang="en-US" sz="1700" b="0" strike="noStrike" spc="-1">
              <a:solidFill>
                <a:srgbClr val="000000"/>
              </a:solidFill>
              <a:latin typeface="Arial"/>
            </a:endParaRPr>
          </a:p>
        </p:txBody>
      </p:sp>
      <p:sp>
        <p:nvSpPr>
          <p:cNvPr id="38" name="Shape 3"/>
          <p:cNvSpPr/>
          <p:nvPr/>
        </p:nvSpPr>
        <p:spPr>
          <a:xfrm>
            <a:off x="640080" y="2743200"/>
            <a:ext cx="3428640" cy="1737000"/>
          </a:xfrm>
          <a:prstGeom prst="roundRect">
            <a:avLst>
              <a:gd name="adj" fmla="val 3158"/>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 name="Text 4"/>
          <p:cNvSpPr/>
          <p:nvPr/>
        </p:nvSpPr>
        <p:spPr>
          <a:xfrm>
            <a:off x="960120" y="297180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1C2534"/>
                </a:solidFill>
                <a:latin typeface="Cambria"/>
                <a:ea typeface="Cambria"/>
              </a:rPr>
              <a:t>Rates</a:t>
            </a:r>
            <a:endParaRPr lang="en-US" sz="2000" b="0" strike="noStrike" spc="-1">
              <a:solidFill>
                <a:srgbClr val="000000"/>
              </a:solidFill>
              <a:latin typeface="Arial"/>
            </a:endParaRPr>
          </a:p>
        </p:txBody>
      </p:sp>
      <p:sp>
        <p:nvSpPr>
          <p:cNvPr id="40" name="Text 5"/>
          <p:cNvSpPr/>
          <p:nvPr/>
        </p:nvSpPr>
        <p:spPr>
          <a:xfrm>
            <a:off x="960120" y="352044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D64545"/>
                </a:solidFill>
                <a:latin typeface="Calibri"/>
                <a:ea typeface="Calibri"/>
              </a:rPr>
              <a:t>fall</a:t>
            </a:r>
            <a:endParaRPr lang="en-US" sz="2400" b="0" strike="noStrike" spc="-1">
              <a:solidFill>
                <a:srgbClr val="000000"/>
              </a:solidFill>
              <a:latin typeface="Arial"/>
            </a:endParaRPr>
          </a:p>
        </p:txBody>
      </p:sp>
      <p:sp>
        <p:nvSpPr>
          <p:cNvPr id="41" name="Shape 6"/>
          <p:cNvSpPr/>
          <p:nvPr/>
        </p:nvSpPr>
        <p:spPr>
          <a:xfrm>
            <a:off x="4325040" y="2743200"/>
            <a:ext cx="3428640" cy="1737000"/>
          </a:xfrm>
          <a:prstGeom prst="roundRect">
            <a:avLst>
              <a:gd name="adj" fmla="val 3158"/>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 name="Text 7"/>
          <p:cNvSpPr/>
          <p:nvPr/>
        </p:nvSpPr>
        <p:spPr>
          <a:xfrm>
            <a:off x="4645080" y="297180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1C2534"/>
                </a:solidFill>
                <a:latin typeface="Cambria"/>
                <a:ea typeface="Cambria"/>
              </a:rPr>
              <a:t>Commissions</a:t>
            </a:r>
            <a:endParaRPr lang="en-US" sz="2000" b="0" strike="noStrike" spc="-1">
              <a:solidFill>
                <a:srgbClr val="000000"/>
              </a:solidFill>
              <a:latin typeface="Arial"/>
            </a:endParaRPr>
          </a:p>
        </p:txBody>
      </p:sp>
      <p:sp>
        <p:nvSpPr>
          <p:cNvPr id="43" name="Text 8"/>
          <p:cNvSpPr/>
          <p:nvPr/>
        </p:nvSpPr>
        <p:spPr>
          <a:xfrm>
            <a:off x="4645080" y="352044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D64545"/>
                </a:solidFill>
                <a:latin typeface="Calibri"/>
                <a:ea typeface="Calibri"/>
              </a:rPr>
              <a:t>compress</a:t>
            </a:r>
            <a:endParaRPr lang="en-US" sz="2400" b="0" strike="noStrike" spc="-1">
              <a:solidFill>
                <a:srgbClr val="000000"/>
              </a:solidFill>
              <a:latin typeface="Arial"/>
            </a:endParaRPr>
          </a:p>
        </p:txBody>
      </p:sp>
      <p:sp>
        <p:nvSpPr>
          <p:cNvPr id="44" name="Shape 9"/>
          <p:cNvSpPr/>
          <p:nvPr/>
        </p:nvSpPr>
        <p:spPr>
          <a:xfrm>
            <a:off x="8010000" y="2743200"/>
            <a:ext cx="3428640" cy="1737000"/>
          </a:xfrm>
          <a:prstGeom prst="roundRect">
            <a:avLst>
              <a:gd name="adj" fmla="val 3158"/>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 name="Text 10"/>
          <p:cNvSpPr/>
          <p:nvPr/>
        </p:nvSpPr>
        <p:spPr>
          <a:xfrm>
            <a:off x="8330040" y="297180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1C2534"/>
                </a:solidFill>
                <a:latin typeface="Cambria"/>
                <a:ea typeface="Cambria"/>
              </a:rPr>
              <a:t>Expense base</a:t>
            </a:r>
            <a:endParaRPr lang="en-US" sz="2000" b="0" strike="noStrike" spc="-1">
              <a:solidFill>
                <a:srgbClr val="000000"/>
              </a:solidFill>
              <a:latin typeface="Arial"/>
            </a:endParaRPr>
          </a:p>
        </p:txBody>
      </p:sp>
      <p:sp>
        <p:nvSpPr>
          <p:cNvPr id="46" name="Text 11"/>
          <p:cNvSpPr/>
          <p:nvPr/>
        </p:nvSpPr>
        <p:spPr>
          <a:xfrm>
            <a:off x="8330040" y="3520440"/>
            <a:ext cx="2834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33465F"/>
                </a:solidFill>
                <a:latin typeface="Calibri"/>
                <a:ea typeface="Calibri"/>
              </a:rPr>
              <a:t>stays sticky</a:t>
            </a:r>
            <a:endParaRPr lang="en-US" sz="2400" b="0" strike="noStrike" spc="-1">
              <a:solidFill>
                <a:srgbClr val="000000"/>
              </a:solidFill>
              <a:latin typeface="Arial"/>
            </a:endParaRPr>
          </a:p>
        </p:txBody>
      </p:sp>
      <p:sp>
        <p:nvSpPr>
          <p:cNvPr id="47" name="Shape 12"/>
          <p:cNvSpPr/>
          <p:nvPr/>
        </p:nvSpPr>
        <p:spPr>
          <a:xfrm>
            <a:off x="640080" y="4800600"/>
            <a:ext cx="10908360" cy="1051200"/>
          </a:xfrm>
          <a:prstGeom prst="roundRect">
            <a:avLst>
              <a:gd name="adj" fmla="val 5217"/>
            </a:avLst>
          </a:prstGeom>
          <a:solidFill>
            <a:srgbClr val="1F3A5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8" name="Text 13"/>
          <p:cNvSpPr/>
          <p:nvPr/>
        </p:nvSpPr>
        <p:spPr>
          <a:xfrm>
            <a:off x="960120" y="4800600"/>
            <a:ext cx="102409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E0A62E"/>
                </a:solidFill>
                <a:latin typeface="Calibri"/>
                <a:ea typeface="Calibri"/>
              </a:rPr>
              <a:t>The result:  </a:t>
            </a:r>
            <a:r>
              <a:rPr lang="en-US" sz="1800" b="0" strike="noStrike" spc="-1">
                <a:solidFill>
                  <a:srgbClr val="FFFFFF"/>
                </a:solidFill>
                <a:latin typeface="Calibri"/>
                <a:ea typeface="Calibri"/>
              </a:rPr>
              <a:t>most MGAs look competitive in a hard market and go underwater in a soft one.</a:t>
            </a:r>
            <a:endParaRPr lang="en-US" sz="1800" b="0" strike="noStrike" spc="-1">
              <a:solidFill>
                <a:srgbClr val="000000"/>
              </a:solidFill>
              <a:latin typeface="Arial"/>
            </a:endParaRPr>
          </a:p>
        </p:txBody>
      </p:sp>
      <p:sp>
        <p:nvSpPr>
          <p:cNvPr id="49" name="Text 14"/>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50" name="Text 15"/>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03</a:t>
            </a:r>
            <a:endParaRPr lang="en-US" sz="9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WEDGE</a:t>
            </a:r>
            <a:endParaRPr lang="en-US" sz="1200" b="0" strike="noStrike" spc="-1">
              <a:solidFill>
                <a:srgbClr val="000000"/>
              </a:solidFill>
              <a:latin typeface="Arial"/>
            </a:endParaRPr>
          </a:p>
        </p:txBody>
      </p:sp>
      <p:sp>
        <p:nvSpPr>
          <p:cNvPr id="52"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You can't out-price loss cost</a:t>
            </a:r>
            <a:endParaRPr lang="en-US" sz="3200" b="0" strike="noStrike" spc="-1">
              <a:solidFill>
                <a:srgbClr val="000000"/>
              </a:solidFill>
              <a:latin typeface="Arial"/>
            </a:endParaRPr>
          </a:p>
        </p:txBody>
      </p:sp>
      <p:sp>
        <p:nvSpPr>
          <p:cNvPr id="53" name="Shape 2"/>
          <p:cNvSpPr/>
          <p:nvPr/>
        </p:nvSpPr>
        <p:spPr>
          <a:xfrm>
            <a:off x="640080" y="1874520"/>
            <a:ext cx="5303160" cy="3062880"/>
          </a:xfrm>
          <a:prstGeom prst="roundRect">
            <a:avLst>
              <a:gd name="adj" fmla="val 1791"/>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 name="Shape 3"/>
          <p:cNvSpPr/>
          <p:nvPr/>
        </p:nvSpPr>
        <p:spPr>
          <a:xfrm>
            <a:off x="1051560" y="2194560"/>
            <a:ext cx="255600" cy="255600"/>
          </a:xfrm>
          <a:prstGeom prst="ellipse">
            <a:avLst/>
          </a:prstGeom>
          <a:solidFill>
            <a:srgbClr val="D6454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5" name="Text 4"/>
          <p:cNvSpPr/>
          <p:nvPr/>
        </p:nvSpPr>
        <p:spPr>
          <a:xfrm>
            <a:off x="1463040" y="2121480"/>
            <a:ext cx="4297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1C2534"/>
                </a:solidFill>
                <a:latin typeface="Cambria"/>
                <a:ea typeface="Cambria"/>
              </a:rPr>
              <a:t>Loss cost</a:t>
            </a:r>
            <a:endParaRPr lang="en-US" sz="2200" b="0" strike="noStrike" spc="-1">
              <a:solidFill>
                <a:srgbClr val="000000"/>
              </a:solidFill>
              <a:latin typeface="Arial"/>
            </a:endParaRPr>
          </a:p>
        </p:txBody>
      </p:sp>
      <p:sp>
        <p:nvSpPr>
          <p:cNvPr id="56" name="Text 5"/>
          <p:cNvSpPr/>
          <p:nvPr/>
        </p:nvSpPr>
        <p:spPr>
          <a:xfrm>
            <a:off x="1463040" y="26060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99">
                <a:solidFill>
                  <a:srgbClr val="D64545"/>
                </a:solidFill>
                <a:latin typeface="Calibri"/>
                <a:ea typeface="Calibri"/>
              </a:rPr>
              <a:t>FIXED BY REALITY</a:t>
            </a:r>
            <a:endParaRPr lang="en-US" sz="1100" b="0" strike="noStrike" spc="-1">
              <a:solidFill>
                <a:srgbClr val="000000"/>
              </a:solidFill>
              <a:latin typeface="Arial"/>
            </a:endParaRPr>
          </a:p>
        </p:txBody>
      </p:sp>
      <p:sp>
        <p:nvSpPr>
          <p:cNvPr id="57" name="Text 6"/>
          <p:cNvSpPr/>
          <p:nvPr/>
        </p:nvSpPr>
        <p:spPr>
          <a:xfrm>
            <a:off x="1051560" y="3108960"/>
            <a:ext cx="46173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500" b="0" strike="noStrike" spc="-1">
                <a:solidFill>
                  <a:srgbClr val="5C6B7E"/>
                </a:solidFill>
                <a:latin typeface="Calibri"/>
                <a:ea typeface="Calibri"/>
              </a:rPr>
              <a:t>The actual cost of claims. It does not soften with the market. No MGA can compete it away — it is what it is.</a:t>
            </a:r>
            <a:endParaRPr lang="en-US" sz="1500" b="0" strike="noStrike" spc="-1">
              <a:solidFill>
                <a:srgbClr val="000000"/>
              </a:solidFill>
              <a:latin typeface="Arial"/>
            </a:endParaRPr>
          </a:p>
        </p:txBody>
      </p:sp>
      <p:sp>
        <p:nvSpPr>
          <p:cNvPr id="58" name="Shape 7"/>
          <p:cNvSpPr/>
          <p:nvPr/>
        </p:nvSpPr>
        <p:spPr>
          <a:xfrm>
            <a:off x="6245280" y="1874520"/>
            <a:ext cx="5303160" cy="3062880"/>
          </a:xfrm>
          <a:prstGeom prst="roundRect">
            <a:avLst>
              <a:gd name="adj" fmla="val 1791"/>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9" name="Shape 8"/>
          <p:cNvSpPr/>
          <p:nvPr/>
        </p:nvSpPr>
        <p:spPr>
          <a:xfrm>
            <a:off x="6656760" y="2194560"/>
            <a:ext cx="255600" cy="255600"/>
          </a:xfrm>
          <a:prstGeom prst="ellipse">
            <a:avLst/>
          </a:prstGeom>
          <a:solidFill>
            <a:srgbClr val="2E9E7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 name="Text 9"/>
          <p:cNvSpPr/>
          <p:nvPr/>
        </p:nvSpPr>
        <p:spPr>
          <a:xfrm>
            <a:off x="7068240" y="2121480"/>
            <a:ext cx="4297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1C2534"/>
                </a:solidFill>
                <a:latin typeface="Cambria"/>
                <a:ea typeface="Cambria"/>
              </a:rPr>
              <a:t>Expense &amp; margin</a:t>
            </a:r>
            <a:endParaRPr lang="en-US" sz="2200" b="0" strike="noStrike" spc="-1">
              <a:solidFill>
                <a:srgbClr val="000000"/>
              </a:solidFill>
              <a:latin typeface="Arial"/>
            </a:endParaRPr>
          </a:p>
        </p:txBody>
      </p:sp>
      <p:sp>
        <p:nvSpPr>
          <p:cNvPr id="61" name="Text 10"/>
          <p:cNvSpPr/>
          <p:nvPr/>
        </p:nvSpPr>
        <p:spPr>
          <a:xfrm>
            <a:off x="7068240" y="26060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99">
                <a:solidFill>
                  <a:srgbClr val="2E9E76"/>
                </a:solidFill>
                <a:latin typeface="Calibri"/>
                <a:ea typeface="Calibri"/>
              </a:rPr>
              <a:t>WHERE WE COMPETE</a:t>
            </a:r>
            <a:endParaRPr lang="en-US" sz="1100" b="0" strike="noStrike" spc="-1">
              <a:solidFill>
                <a:srgbClr val="000000"/>
              </a:solidFill>
              <a:latin typeface="Arial"/>
            </a:endParaRPr>
          </a:p>
        </p:txBody>
      </p:sp>
      <p:sp>
        <p:nvSpPr>
          <p:cNvPr id="62" name="Text 11"/>
          <p:cNvSpPr/>
          <p:nvPr/>
        </p:nvSpPr>
        <p:spPr>
          <a:xfrm>
            <a:off x="6656760" y="3108960"/>
            <a:ext cx="46173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500" b="0" strike="noStrike" spc="-1">
                <a:solidFill>
                  <a:srgbClr val="5C6B7E"/>
                </a:solidFill>
                <a:latin typeface="Calibri"/>
                <a:ea typeface="Calibri"/>
              </a:rPr>
              <a:t>Everything else — acquisition, servicing, overhead. This is where the entire industry actually competes, and where automation wins permanently.</a:t>
            </a:r>
            <a:endParaRPr lang="en-US" sz="1500" b="0" strike="noStrike" spc="-1">
              <a:solidFill>
                <a:srgbClr val="000000"/>
              </a:solidFill>
              <a:latin typeface="Arial"/>
            </a:endParaRPr>
          </a:p>
        </p:txBody>
      </p:sp>
      <p:sp>
        <p:nvSpPr>
          <p:cNvPr id="63" name="Text 12"/>
          <p:cNvSpPr/>
          <p:nvPr/>
        </p:nvSpPr>
        <p:spPr>
          <a:xfrm>
            <a:off x="640080" y="5257800"/>
            <a:ext cx="10881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C2534"/>
                </a:solidFill>
                <a:latin typeface="Calibri"/>
                <a:ea typeface="Calibri"/>
              </a:rPr>
              <a:t>Torque's edge is a cost structure, not a pricing trick — </a:t>
            </a:r>
            <a:r>
              <a:rPr lang="en-US" sz="1800" b="1" strike="noStrike" spc="-1">
                <a:solidFill>
                  <a:srgbClr val="B7791F"/>
                </a:solidFill>
                <a:latin typeface="Calibri"/>
                <a:ea typeface="Calibri"/>
              </a:rPr>
              <a:t>and a cost structure compounds.</a:t>
            </a:r>
            <a:endParaRPr lang="en-US" sz="1800" b="0" strike="noStrike" spc="-1">
              <a:solidFill>
                <a:srgbClr val="000000"/>
              </a:solidFill>
              <a:latin typeface="Arial"/>
            </a:endParaRPr>
          </a:p>
        </p:txBody>
      </p:sp>
      <p:sp>
        <p:nvSpPr>
          <p:cNvPr id="64" name="Text 13"/>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65" name="Text 14"/>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04</a:t>
            </a:r>
            <a:endParaRPr lang="en-US" sz="9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B2A"/>
        </a:solidFill>
        <a:effectLst/>
      </p:bgPr>
    </p:bg>
    <p:spTree>
      <p:nvGrpSpPr>
        <p:cNvPr id="1" name=""/>
        <p:cNvGrpSpPr/>
        <p:nvPr/>
      </p:nvGrpSpPr>
      <p:grpSpPr>
        <a:xfrm>
          <a:off x="0" y="0"/>
          <a:ext cx="0" cy="0"/>
          <a:chOff x="0" y="0"/>
          <a:chExt cx="0" cy="0"/>
        </a:xfrm>
      </p:grpSpPr>
      <p:sp>
        <p:nvSpPr>
          <p:cNvPr id="66"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E0A62E"/>
                </a:solidFill>
                <a:latin typeface="Calibri"/>
                <a:ea typeface="Calibri"/>
              </a:rPr>
              <a:t>THE MONEY SLIDE</a:t>
            </a:r>
            <a:endParaRPr lang="en-US" sz="1200" b="0" strike="noStrike" spc="-1">
              <a:solidFill>
                <a:srgbClr val="FFFFFF"/>
              </a:solidFill>
              <a:latin typeface="Arial"/>
            </a:endParaRPr>
          </a:p>
        </p:txBody>
      </p:sp>
      <p:sp>
        <p:nvSpPr>
          <p:cNvPr id="67"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FFFFFF"/>
                </a:solidFill>
                <a:latin typeface="Cambria"/>
                <a:ea typeface="Cambria"/>
              </a:rPr>
              <a:t>Where competitors go red — and we don't</a:t>
            </a:r>
            <a:endParaRPr lang="en-US" sz="3200" b="0" strike="noStrike" spc="-1">
              <a:solidFill>
                <a:srgbClr val="FFFFFF"/>
              </a:solidFill>
              <a:latin typeface="Arial"/>
            </a:endParaRPr>
          </a:p>
        </p:txBody>
      </p:sp>
      <p:sp>
        <p:nvSpPr>
          <p:cNvPr id="68" name="Text 2"/>
          <p:cNvSpPr/>
          <p:nvPr/>
        </p:nvSpPr>
        <p:spPr>
          <a:xfrm>
            <a:off x="640080" y="1600200"/>
            <a:ext cx="10606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strike="noStrike" spc="-1">
                <a:solidFill>
                  <a:srgbClr val="9FB0C6"/>
                </a:solidFill>
                <a:latin typeface="Calibri"/>
                <a:ea typeface="Calibri"/>
              </a:rPr>
              <a:t>As the market softens, a high-cost book crosses into loss. A lean cost base stays above the line.</a:t>
            </a:r>
            <a:endParaRPr lang="en-US" sz="1500" b="0" strike="noStrike" spc="-1">
              <a:solidFill>
                <a:srgbClr val="FFFFFF"/>
              </a:solidFill>
              <a:latin typeface="Arial"/>
            </a:endParaRPr>
          </a:p>
        </p:txBody>
      </p:sp>
      <p:sp>
        <p:nvSpPr>
          <p:cNvPr id="69" name="Shape 3"/>
          <p:cNvSpPr/>
          <p:nvPr/>
        </p:nvSpPr>
        <p:spPr>
          <a:xfrm>
            <a:off x="640080" y="2148840"/>
            <a:ext cx="10908360" cy="3840120"/>
          </a:xfrm>
          <a:prstGeom prst="roundRect">
            <a:avLst>
              <a:gd name="adj" fmla="val 142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aphicFrame>
        <p:nvGraphicFramePr>
          <p:cNvPr id="70" name="Chart 0"/>
          <p:cNvGraphicFramePr/>
          <p:nvPr/>
        </p:nvGraphicFramePr>
        <p:xfrm>
          <a:off x="868680" y="2331720"/>
          <a:ext cx="10423800" cy="3245760"/>
        </p:xfrm>
        <a:graphic>
          <a:graphicData uri="http://schemas.openxmlformats.org/drawingml/2006/chart">
            <c:chart xmlns:c="http://schemas.openxmlformats.org/drawingml/2006/chart" xmlns:r="http://schemas.openxmlformats.org/officeDocument/2006/relationships" r:id="rId3"/>
          </a:graphicData>
        </a:graphic>
      </p:graphicFrame>
      <p:sp>
        <p:nvSpPr>
          <p:cNvPr id="71" name="Text 4"/>
          <p:cNvSpPr/>
          <p:nvPr/>
        </p:nvSpPr>
        <p:spPr>
          <a:xfrm>
            <a:off x="640080" y="60534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9FB0C6"/>
                </a:solidFill>
                <a:latin typeface="Calibri"/>
                <a:ea typeface="Calibri"/>
              </a:rPr>
              <a:t>Illustrative — shape of the thesis, not a forecast.</a:t>
            </a:r>
            <a:endParaRPr lang="en-US" sz="1000" b="0" strike="noStrike" spc="-1">
              <a:solidFill>
                <a:srgbClr val="FFFFFF"/>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HOW IT WORKS</a:t>
            </a:r>
            <a:endParaRPr lang="en-US" sz="1200" b="0" strike="noStrike" spc="-1">
              <a:solidFill>
                <a:srgbClr val="000000"/>
              </a:solidFill>
              <a:latin typeface="Arial"/>
            </a:endParaRPr>
          </a:p>
        </p:txBody>
      </p:sp>
      <p:sp>
        <p:nvSpPr>
          <p:cNvPr id="73"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What happens that you can't see</a:t>
            </a:r>
            <a:endParaRPr lang="en-US" sz="3200" b="0" strike="noStrike" spc="-1">
              <a:solidFill>
                <a:srgbClr val="000000"/>
              </a:solidFill>
              <a:latin typeface="Arial"/>
            </a:endParaRPr>
          </a:p>
        </p:txBody>
      </p:sp>
      <p:sp>
        <p:nvSpPr>
          <p:cNvPr id="74" name="Text 2"/>
          <p:cNvSpPr/>
          <p:nvPr/>
        </p:nvSpPr>
        <p:spPr>
          <a:xfrm>
            <a:off x="640080" y="1691640"/>
            <a:ext cx="10606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strike="noStrike" spc="-1">
                <a:solidFill>
                  <a:srgbClr val="5C6B7E"/>
                </a:solidFill>
                <a:latin typeface="Calibri"/>
                <a:ea typeface="Calibri"/>
              </a:rPr>
              <a:t>A clean risk never touches a human. Everything below runs as software, in order, in seconds.</a:t>
            </a:r>
            <a:endParaRPr lang="en-US" sz="1600" b="0" strike="noStrike" spc="-1">
              <a:solidFill>
                <a:srgbClr val="000000"/>
              </a:solidFill>
              <a:latin typeface="Arial"/>
            </a:endParaRPr>
          </a:p>
        </p:txBody>
      </p:sp>
      <p:sp>
        <p:nvSpPr>
          <p:cNvPr id="75" name="Shape 3"/>
          <p:cNvSpPr/>
          <p:nvPr/>
        </p:nvSpPr>
        <p:spPr>
          <a:xfrm>
            <a:off x="640080" y="2788920"/>
            <a:ext cx="1965600" cy="1965600"/>
          </a:xfrm>
          <a:prstGeom prst="roundRect">
            <a:avLst>
              <a:gd name="adj" fmla="val 279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 name="Shape 4"/>
          <p:cNvSpPr/>
          <p:nvPr/>
        </p:nvSpPr>
        <p:spPr>
          <a:xfrm>
            <a:off x="1348920" y="3044880"/>
            <a:ext cx="548280" cy="548280"/>
          </a:xfrm>
          <a:prstGeom prst="ellipse">
            <a:avLst/>
          </a:prstGeom>
          <a:solidFill>
            <a:srgbClr val="1F3A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7" name="Text 5"/>
          <p:cNvSpPr/>
          <p:nvPr/>
        </p:nvSpPr>
        <p:spPr>
          <a:xfrm>
            <a:off x="1348920" y="304488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mbria"/>
                <a:ea typeface="Cambria"/>
              </a:rPr>
              <a:t>1</a:t>
            </a:r>
            <a:endParaRPr lang="en-US" sz="2000" b="0" strike="noStrike" spc="-1">
              <a:solidFill>
                <a:srgbClr val="000000"/>
              </a:solidFill>
              <a:latin typeface="Arial"/>
            </a:endParaRPr>
          </a:p>
        </p:txBody>
      </p:sp>
      <p:sp>
        <p:nvSpPr>
          <p:cNvPr id="78" name="Text 6"/>
          <p:cNvSpPr/>
          <p:nvPr/>
        </p:nvSpPr>
        <p:spPr>
          <a:xfrm>
            <a:off x="731520" y="3703320"/>
            <a:ext cx="1782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1C2534"/>
                </a:solidFill>
                <a:latin typeface="Cambria"/>
                <a:ea typeface="Cambria"/>
              </a:rPr>
              <a:t>Intake</a:t>
            </a:r>
            <a:endParaRPr lang="en-US" sz="1500" b="0" strike="noStrike" spc="-1">
              <a:solidFill>
                <a:srgbClr val="000000"/>
              </a:solidFill>
              <a:latin typeface="Arial"/>
            </a:endParaRPr>
          </a:p>
        </p:txBody>
      </p:sp>
      <p:sp>
        <p:nvSpPr>
          <p:cNvPr id="79" name="Text 7"/>
          <p:cNvSpPr/>
          <p:nvPr/>
        </p:nvSpPr>
        <p:spPr>
          <a:xfrm>
            <a:off x="749880" y="4069080"/>
            <a:ext cx="1746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5C6B7E"/>
                </a:solidFill>
                <a:latin typeface="Calibri"/>
                <a:ea typeface="Calibri"/>
              </a:rPr>
              <a:t>Application in, structured &amp; ID'd</a:t>
            </a:r>
            <a:endParaRPr lang="en-US" sz="1050" b="0" strike="noStrike" spc="-1">
              <a:solidFill>
                <a:srgbClr val="000000"/>
              </a:solidFill>
              <a:latin typeface="Arial"/>
            </a:endParaRPr>
          </a:p>
        </p:txBody>
      </p:sp>
      <p:sp>
        <p:nvSpPr>
          <p:cNvPr id="80" name="Text 8"/>
          <p:cNvSpPr/>
          <p:nvPr/>
        </p:nvSpPr>
        <p:spPr>
          <a:xfrm>
            <a:off x="2569320" y="2788920"/>
            <a:ext cx="328680" cy="19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libri"/>
                <a:ea typeface="Calibri"/>
              </a:rPr>
              <a:t>→</a:t>
            </a:r>
            <a:endParaRPr lang="en-US" sz="2000" b="0" strike="noStrike" spc="-1">
              <a:solidFill>
                <a:srgbClr val="000000"/>
              </a:solidFill>
              <a:latin typeface="Arial"/>
            </a:endParaRPr>
          </a:p>
        </p:txBody>
      </p:sp>
      <p:sp>
        <p:nvSpPr>
          <p:cNvPr id="81" name="Shape 9"/>
          <p:cNvSpPr/>
          <p:nvPr/>
        </p:nvSpPr>
        <p:spPr>
          <a:xfrm>
            <a:off x="2862000" y="2788920"/>
            <a:ext cx="1965600" cy="1965600"/>
          </a:xfrm>
          <a:prstGeom prst="roundRect">
            <a:avLst>
              <a:gd name="adj" fmla="val 279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 name="Shape 10"/>
          <p:cNvSpPr/>
          <p:nvPr/>
        </p:nvSpPr>
        <p:spPr>
          <a:xfrm>
            <a:off x="3570840" y="3044880"/>
            <a:ext cx="548280" cy="548280"/>
          </a:xfrm>
          <a:prstGeom prst="ellipse">
            <a:avLst/>
          </a:prstGeom>
          <a:solidFill>
            <a:srgbClr val="1F3A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3" name="Text 11"/>
          <p:cNvSpPr/>
          <p:nvPr/>
        </p:nvSpPr>
        <p:spPr>
          <a:xfrm>
            <a:off x="3570840" y="304488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mbria"/>
                <a:ea typeface="Cambria"/>
              </a:rPr>
              <a:t>2</a:t>
            </a:r>
            <a:endParaRPr lang="en-US" sz="2000" b="0" strike="noStrike" spc="-1">
              <a:solidFill>
                <a:srgbClr val="000000"/>
              </a:solidFill>
              <a:latin typeface="Arial"/>
            </a:endParaRPr>
          </a:p>
        </p:txBody>
      </p:sp>
      <p:sp>
        <p:nvSpPr>
          <p:cNvPr id="84" name="Text 12"/>
          <p:cNvSpPr/>
          <p:nvPr/>
        </p:nvSpPr>
        <p:spPr>
          <a:xfrm>
            <a:off x="2953440" y="3703320"/>
            <a:ext cx="1782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1C2534"/>
                </a:solidFill>
                <a:latin typeface="Cambria"/>
                <a:ea typeface="Cambria"/>
              </a:rPr>
              <a:t>Enrich</a:t>
            </a:r>
            <a:endParaRPr lang="en-US" sz="1500" b="0" strike="noStrike" spc="-1">
              <a:solidFill>
                <a:srgbClr val="000000"/>
              </a:solidFill>
              <a:latin typeface="Arial"/>
            </a:endParaRPr>
          </a:p>
        </p:txBody>
      </p:sp>
      <p:sp>
        <p:nvSpPr>
          <p:cNvPr id="85" name="Text 13"/>
          <p:cNvSpPr/>
          <p:nvPr/>
        </p:nvSpPr>
        <p:spPr>
          <a:xfrm>
            <a:off x="2971800" y="4069080"/>
            <a:ext cx="1746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5C6B7E"/>
                </a:solidFill>
                <a:latin typeface="Calibri"/>
                <a:ea typeface="Calibri"/>
              </a:rPr>
              <a:t>MVR, VIN, title, prior losses added</a:t>
            </a:r>
            <a:endParaRPr lang="en-US" sz="1050" b="0" strike="noStrike" spc="-1">
              <a:solidFill>
                <a:srgbClr val="000000"/>
              </a:solidFill>
              <a:latin typeface="Arial"/>
            </a:endParaRPr>
          </a:p>
        </p:txBody>
      </p:sp>
      <p:sp>
        <p:nvSpPr>
          <p:cNvPr id="86" name="Text 14"/>
          <p:cNvSpPr/>
          <p:nvPr/>
        </p:nvSpPr>
        <p:spPr>
          <a:xfrm>
            <a:off x="4791600" y="2788920"/>
            <a:ext cx="328680" cy="19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libri"/>
                <a:ea typeface="Calibri"/>
              </a:rPr>
              <a:t>→</a:t>
            </a:r>
            <a:endParaRPr lang="en-US" sz="2000" b="0" strike="noStrike" spc="-1">
              <a:solidFill>
                <a:srgbClr val="000000"/>
              </a:solidFill>
              <a:latin typeface="Arial"/>
            </a:endParaRPr>
          </a:p>
        </p:txBody>
      </p:sp>
      <p:sp>
        <p:nvSpPr>
          <p:cNvPr id="87" name="Shape 15"/>
          <p:cNvSpPr/>
          <p:nvPr/>
        </p:nvSpPr>
        <p:spPr>
          <a:xfrm>
            <a:off x="5083920" y="2788920"/>
            <a:ext cx="1965600" cy="1965600"/>
          </a:xfrm>
          <a:prstGeom prst="roundRect">
            <a:avLst>
              <a:gd name="adj" fmla="val 279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8" name="Shape 16"/>
          <p:cNvSpPr/>
          <p:nvPr/>
        </p:nvSpPr>
        <p:spPr>
          <a:xfrm>
            <a:off x="5792760" y="3044880"/>
            <a:ext cx="548280" cy="548280"/>
          </a:xfrm>
          <a:prstGeom prst="ellipse">
            <a:avLst/>
          </a:prstGeom>
          <a:solidFill>
            <a:srgbClr val="1F3A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 name="Text 17"/>
          <p:cNvSpPr/>
          <p:nvPr/>
        </p:nvSpPr>
        <p:spPr>
          <a:xfrm>
            <a:off x="5792760" y="304488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mbria"/>
                <a:ea typeface="Cambria"/>
              </a:rPr>
              <a:t>3</a:t>
            </a:r>
            <a:endParaRPr lang="en-US" sz="2000" b="0" strike="noStrike" spc="-1">
              <a:solidFill>
                <a:srgbClr val="000000"/>
              </a:solidFill>
              <a:latin typeface="Arial"/>
            </a:endParaRPr>
          </a:p>
        </p:txBody>
      </p:sp>
      <p:sp>
        <p:nvSpPr>
          <p:cNvPr id="90" name="Text 18"/>
          <p:cNvSpPr/>
          <p:nvPr/>
        </p:nvSpPr>
        <p:spPr>
          <a:xfrm>
            <a:off x="5175360" y="3703320"/>
            <a:ext cx="1782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1C2534"/>
                </a:solidFill>
                <a:latin typeface="Cambria"/>
                <a:ea typeface="Cambria"/>
              </a:rPr>
              <a:t>Referral gate</a:t>
            </a:r>
            <a:endParaRPr lang="en-US" sz="1500" b="0" strike="noStrike" spc="-1">
              <a:solidFill>
                <a:srgbClr val="000000"/>
              </a:solidFill>
              <a:latin typeface="Arial"/>
            </a:endParaRPr>
          </a:p>
        </p:txBody>
      </p:sp>
      <p:sp>
        <p:nvSpPr>
          <p:cNvPr id="91" name="Text 19"/>
          <p:cNvSpPr/>
          <p:nvPr/>
        </p:nvSpPr>
        <p:spPr>
          <a:xfrm>
            <a:off x="5193720" y="4069080"/>
            <a:ext cx="1746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5C6B7E"/>
                </a:solidFill>
                <a:latin typeface="Calibri"/>
                <a:ea typeface="Calibri"/>
              </a:rPr>
              <a:t>Route only what needs a human</a:t>
            </a:r>
            <a:endParaRPr lang="en-US" sz="1050" b="0" strike="noStrike" spc="-1">
              <a:solidFill>
                <a:srgbClr val="000000"/>
              </a:solidFill>
              <a:latin typeface="Arial"/>
            </a:endParaRPr>
          </a:p>
        </p:txBody>
      </p:sp>
      <p:sp>
        <p:nvSpPr>
          <p:cNvPr id="92" name="Text 20"/>
          <p:cNvSpPr/>
          <p:nvPr/>
        </p:nvSpPr>
        <p:spPr>
          <a:xfrm>
            <a:off x="7013520" y="2788920"/>
            <a:ext cx="328680" cy="19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libri"/>
                <a:ea typeface="Calibri"/>
              </a:rPr>
              <a:t>→</a:t>
            </a:r>
            <a:endParaRPr lang="en-US" sz="2000" b="0" strike="noStrike" spc="-1">
              <a:solidFill>
                <a:srgbClr val="000000"/>
              </a:solidFill>
              <a:latin typeface="Arial"/>
            </a:endParaRPr>
          </a:p>
        </p:txBody>
      </p:sp>
      <p:sp>
        <p:nvSpPr>
          <p:cNvPr id="93" name="Shape 21"/>
          <p:cNvSpPr/>
          <p:nvPr/>
        </p:nvSpPr>
        <p:spPr>
          <a:xfrm>
            <a:off x="7306200" y="2788920"/>
            <a:ext cx="1965600" cy="1965600"/>
          </a:xfrm>
          <a:prstGeom prst="roundRect">
            <a:avLst>
              <a:gd name="adj" fmla="val 279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4" name="Shape 22"/>
          <p:cNvSpPr/>
          <p:nvPr/>
        </p:nvSpPr>
        <p:spPr>
          <a:xfrm>
            <a:off x="8014680" y="3044880"/>
            <a:ext cx="548280" cy="548280"/>
          </a:xfrm>
          <a:prstGeom prst="ellipse">
            <a:avLst/>
          </a:prstGeom>
          <a:solidFill>
            <a:srgbClr val="1F3A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 name="Text 23"/>
          <p:cNvSpPr/>
          <p:nvPr/>
        </p:nvSpPr>
        <p:spPr>
          <a:xfrm>
            <a:off x="8014680" y="304488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mbria"/>
                <a:ea typeface="Cambria"/>
              </a:rPr>
              <a:t>4</a:t>
            </a:r>
            <a:endParaRPr lang="en-US" sz="2000" b="0" strike="noStrike" spc="-1">
              <a:solidFill>
                <a:srgbClr val="000000"/>
              </a:solidFill>
              <a:latin typeface="Arial"/>
            </a:endParaRPr>
          </a:p>
        </p:txBody>
      </p:sp>
      <p:sp>
        <p:nvSpPr>
          <p:cNvPr id="96" name="Text 24"/>
          <p:cNvSpPr/>
          <p:nvPr/>
        </p:nvSpPr>
        <p:spPr>
          <a:xfrm>
            <a:off x="7397640" y="3703320"/>
            <a:ext cx="1782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1C2534"/>
                </a:solidFill>
                <a:latin typeface="Cambria"/>
                <a:ea typeface="Cambria"/>
              </a:rPr>
              <a:t>Rate</a:t>
            </a:r>
            <a:endParaRPr lang="en-US" sz="1500" b="0" strike="noStrike" spc="-1">
              <a:solidFill>
                <a:srgbClr val="000000"/>
              </a:solidFill>
              <a:latin typeface="Arial"/>
            </a:endParaRPr>
          </a:p>
        </p:txBody>
      </p:sp>
      <p:sp>
        <p:nvSpPr>
          <p:cNvPr id="97" name="Text 25"/>
          <p:cNvSpPr/>
          <p:nvPr/>
        </p:nvSpPr>
        <p:spPr>
          <a:xfrm>
            <a:off x="7415640" y="4069080"/>
            <a:ext cx="1746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5C6B7E"/>
                </a:solidFill>
                <a:latin typeface="Calibri"/>
                <a:ea typeface="Calibri"/>
              </a:rPr>
              <a:t>Price inside what the state allows</a:t>
            </a:r>
            <a:endParaRPr lang="en-US" sz="1050" b="0" strike="noStrike" spc="-1">
              <a:solidFill>
                <a:srgbClr val="000000"/>
              </a:solidFill>
              <a:latin typeface="Arial"/>
            </a:endParaRPr>
          </a:p>
        </p:txBody>
      </p:sp>
      <p:sp>
        <p:nvSpPr>
          <p:cNvPr id="98" name="Text 26"/>
          <p:cNvSpPr/>
          <p:nvPr/>
        </p:nvSpPr>
        <p:spPr>
          <a:xfrm>
            <a:off x="9235440" y="2788920"/>
            <a:ext cx="328680" cy="19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libri"/>
                <a:ea typeface="Calibri"/>
              </a:rPr>
              <a:t>→</a:t>
            </a:r>
            <a:endParaRPr lang="en-US" sz="2000" b="0" strike="noStrike" spc="-1">
              <a:solidFill>
                <a:srgbClr val="000000"/>
              </a:solidFill>
              <a:latin typeface="Arial"/>
            </a:endParaRPr>
          </a:p>
        </p:txBody>
      </p:sp>
      <p:sp>
        <p:nvSpPr>
          <p:cNvPr id="99" name="Shape 27"/>
          <p:cNvSpPr/>
          <p:nvPr/>
        </p:nvSpPr>
        <p:spPr>
          <a:xfrm>
            <a:off x="9528120" y="2788920"/>
            <a:ext cx="1965600" cy="1965600"/>
          </a:xfrm>
          <a:prstGeom prst="roundRect">
            <a:avLst>
              <a:gd name="adj" fmla="val 279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0" name="Shape 28"/>
          <p:cNvSpPr/>
          <p:nvPr/>
        </p:nvSpPr>
        <p:spPr>
          <a:xfrm>
            <a:off x="10236600" y="3044880"/>
            <a:ext cx="548280" cy="548280"/>
          </a:xfrm>
          <a:prstGeom prst="ellipse">
            <a:avLst/>
          </a:prstGeom>
          <a:solidFill>
            <a:srgbClr val="1F3A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 name="Text 29"/>
          <p:cNvSpPr/>
          <p:nvPr/>
        </p:nvSpPr>
        <p:spPr>
          <a:xfrm>
            <a:off x="10236600" y="304488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E0A62E"/>
                </a:solidFill>
                <a:latin typeface="Cambria"/>
                <a:ea typeface="Cambria"/>
              </a:rPr>
              <a:t>5</a:t>
            </a:r>
            <a:endParaRPr lang="en-US" sz="2000" b="0" strike="noStrike" spc="-1">
              <a:solidFill>
                <a:srgbClr val="000000"/>
              </a:solidFill>
              <a:latin typeface="Arial"/>
            </a:endParaRPr>
          </a:p>
        </p:txBody>
      </p:sp>
      <p:sp>
        <p:nvSpPr>
          <p:cNvPr id="102" name="Text 30"/>
          <p:cNvSpPr/>
          <p:nvPr/>
        </p:nvSpPr>
        <p:spPr>
          <a:xfrm>
            <a:off x="9619560" y="3703320"/>
            <a:ext cx="1782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1C2534"/>
                </a:solidFill>
                <a:latin typeface="Cambria"/>
                <a:ea typeface="Cambria"/>
              </a:rPr>
              <a:t>Quote</a:t>
            </a:r>
            <a:endParaRPr lang="en-US" sz="1500" b="0" strike="noStrike" spc="-1">
              <a:solidFill>
                <a:srgbClr val="000000"/>
              </a:solidFill>
              <a:latin typeface="Arial"/>
            </a:endParaRPr>
          </a:p>
        </p:txBody>
      </p:sp>
      <p:sp>
        <p:nvSpPr>
          <p:cNvPr id="103" name="Text 31"/>
          <p:cNvSpPr/>
          <p:nvPr/>
        </p:nvSpPr>
        <p:spPr>
          <a:xfrm>
            <a:off x="9637920" y="4069080"/>
            <a:ext cx="1746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5C6B7E"/>
                </a:solidFill>
                <a:latin typeface="Calibri"/>
                <a:ea typeface="Calibri"/>
              </a:rPr>
              <a:t>Offer + logged, explainable decision</a:t>
            </a:r>
            <a:endParaRPr lang="en-US" sz="1050" b="0" strike="noStrike" spc="-1">
              <a:solidFill>
                <a:srgbClr val="000000"/>
              </a:solidFill>
              <a:latin typeface="Arial"/>
            </a:endParaRPr>
          </a:p>
        </p:txBody>
      </p:sp>
      <p:sp>
        <p:nvSpPr>
          <p:cNvPr id="104" name="Shape 32"/>
          <p:cNvSpPr/>
          <p:nvPr/>
        </p:nvSpPr>
        <p:spPr>
          <a:xfrm>
            <a:off x="640080" y="5074920"/>
            <a:ext cx="10908360" cy="868320"/>
          </a:xfrm>
          <a:prstGeom prst="roundRect">
            <a:avLst>
              <a:gd name="adj" fmla="val 6316"/>
            </a:avLst>
          </a:prstGeom>
          <a:solidFill>
            <a:srgbClr val="1F3A5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 name="Text 33"/>
          <p:cNvSpPr/>
          <p:nvPr/>
        </p:nvSpPr>
        <p:spPr>
          <a:xfrm>
            <a:off x="960120" y="5074920"/>
            <a:ext cx="1024092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E0A62E"/>
                </a:solidFill>
                <a:latin typeface="Calibri"/>
                <a:ea typeface="Calibri"/>
              </a:rPr>
              <a:t>The referral gate is the control. </a:t>
            </a:r>
            <a:r>
              <a:rPr lang="en-US" sz="1500" b="0" strike="noStrike" spc="-1">
                <a:solidFill>
                  <a:srgbClr val="FFFFFF"/>
                </a:solidFill>
                <a:latin typeface="Calibri"/>
                <a:ea typeface="Calibri"/>
              </a:rPr>
              <a:t>It fires before anything is priced, and every decision it makes is written down and explainable.</a:t>
            </a:r>
            <a:endParaRPr lang="en-US" sz="1500" b="0" strike="noStrike" spc="-1">
              <a:solidFill>
                <a:srgbClr val="000000"/>
              </a:solidFill>
              <a:latin typeface="Arial"/>
            </a:endParaRPr>
          </a:p>
        </p:txBody>
      </p:sp>
      <p:sp>
        <p:nvSpPr>
          <p:cNvPr id="106" name="Text 34"/>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07" name="Text 35"/>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06</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108"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MOAT</a:t>
            </a:r>
            <a:endParaRPr lang="en-US" sz="1200" b="0" strike="noStrike" spc="-1">
              <a:solidFill>
                <a:srgbClr val="000000"/>
              </a:solidFill>
              <a:latin typeface="Arial"/>
            </a:endParaRPr>
          </a:p>
        </p:txBody>
      </p:sp>
      <p:sp>
        <p:nvSpPr>
          <p:cNvPr id="109"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Compliance built in as a moat</a:t>
            </a:r>
            <a:endParaRPr lang="en-US" sz="3200" b="0" strike="noStrike" spc="-1">
              <a:solidFill>
                <a:srgbClr val="000000"/>
              </a:solidFill>
              <a:latin typeface="Arial"/>
            </a:endParaRPr>
          </a:p>
        </p:txBody>
      </p:sp>
      <p:sp>
        <p:nvSpPr>
          <p:cNvPr id="110" name="Text 2"/>
          <p:cNvSpPr/>
          <p:nvPr/>
        </p:nvSpPr>
        <p:spPr>
          <a:xfrm>
            <a:off x="640080" y="1691640"/>
            <a:ext cx="10881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600" b="0" strike="noStrike" spc="-1">
                <a:solidFill>
                  <a:srgbClr val="1C2534"/>
                </a:solidFill>
                <a:latin typeface="Calibri"/>
                <a:ea typeface="Calibri"/>
              </a:rPr>
              <a:t>Underwriting with AI and external data is now regulated state by state. Torque builds to the strictest bar — New York's DFS standard — by default, so every other state is a subset, not a special case.</a:t>
            </a:r>
            <a:endParaRPr lang="en-US" sz="1600" b="0" strike="noStrike" spc="-1">
              <a:solidFill>
                <a:srgbClr val="000000"/>
              </a:solidFill>
              <a:latin typeface="Arial"/>
            </a:endParaRPr>
          </a:p>
        </p:txBody>
      </p:sp>
      <p:sp>
        <p:nvSpPr>
          <p:cNvPr id="111" name="Shape 3"/>
          <p:cNvSpPr/>
          <p:nvPr/>
        </p:nvSpPr>
        <p:spPr>
          <a:xfrm>
            <a:off x="640080" y="2743200"/>
            <a:ext cx="3428640" cy="2285640"/>
          </a:xfrm>
          <a:prstGeom prst="roundRect">
            <a:avLst>
              <a:gd name="adj" fmla="val 24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 name="Shape 4"/>
          <p:cNvSpPr/>
          <p:nvPr/>
        </p:nvSpPr>
        <p:spPr>
          <a:xfrm>
            <a:off x="960120" y="3017520"/>
            <a:ext cx="411120" cy="41112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3" name="Text 5"/>
          <p:cNvSpPr/>
          <p:nvPr/>
        </p:nvSpPr>
        <p:spPr>
          <a:xfrm>
            <a:off x="960120" y="35661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C2534"/>
                </a:solidFill>
                <a:latin typeface="Cambria"/>
                <a:ea typeface="Cambria"/>
              </a:rPr>
              <a:t>Every decision logged</a:t>
            </a:r>
            <a:endParaRPr lang="en-US" sz="1500" b="0" strike="noStrike" spc="-1">
              <a:solidFill>
                <a:srgbClr val="000000"/>
              </a:solidFill>
              <a:latin typeface="Arial"/>
            </a:endParaRPr>
          </a:p>
        </p:txBody>
      </p:sp>
      <p:sp>
        <p:nvSpPr>
          <p:cNvPr id="114" name="Text 6"/>
          <p:cNvSpPr/>
          <p:nvPr/>
        </p:nvSpPr>
        <p:spPr>
          <a:xfrm>
            <a:off x="960120" y="4114800"/>
            <a:ext cx="28342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strike="noStrike" spc="-1">
                <a:solidFill>
                  <a:srgbClr val="5C6B7E"/>
                </a:solidFill>
                <a:latin typeface="Calibri"/>
                <a:ea typeface="Calibri"/>
              </a:rPr>
              <a:t>Each quote records which permitted factors drove the price — unredacted, at the moment of decision.</a:t>
            </a:r>
            <a:endParaRPr lang="en-US" sz="1200" b="0" strike="noStrike" spc="-1">
              <a:solidFill>
                <a:srgbClr val="000000"/>
              </a:solidFill>
              <a:latin typeface="Arial"/>
            </a:endParaRPr>
          </a:p>
        </p:txBody>
      </p:sp>
      <p:sp>
        <p:nvSpPr>
          <p:cNvPr id="115" name="Shape 7"/>
          <p:cNvSpPr/>
          <p:nvPr/>
        </p:nvSpPr>
        <p:spPr>
          <a:xfrm>
            <a:off x="4325040" y="2743200"/>
            <a:ext cx="3428640" cy="2285640"/>
          </a:xfrm>
          <a:prstGeom prst="roundRect">
            <a:avLst>
              <a:gd name="adj" fmla="val 24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6" name="Shape 8"/>
          <p:cNvSpPr/>
          <p:nvPr/>
        </p:nvSpPr>
        <p:spPr>
          <a:xfrm>
            <a:off x="4645080" y="3017520"/>
            <a:ext cx="411120" cy="41112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7" name="Text 9"/>
          <p:cNvSpPr/>
          <p:nvPr/>
        </p:nvSpPr>
        <p:spPr>
          <a:xfrm>
            <a:off x="4645080" y="35661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C2534"/>
                </a:solidFill>
                <a:latin typeface="Cambria"/>
                <a:ea typeface="Cambria"/>
              </a:rPr>
              <a:t>Explainable adverse action</a:t>
            </a:r>
            <a:endParaRPr lang="en-US" sz="1500" b="0" strike="noStrike" spc="-1">
              <a:solidFill>
                <a:srgbClr val="000000"/>
              </a:solidFill>
              <a:latin typeface="Arial"/>
            </a:endParaRPr>
          </a:p>
        </p:txBody>
      </p:sp>
      <p:sp>
        <p:nvSpPr>
          <p:cNvPr id="118" name="Text 10"/>
          <p:cNvSpPr/>
          <p:nvPr/>
        </p:nvSpPr>
        <p:spPr>
          <a:xfrm>
            <a:off x="4645080" y="4114800"/>
            <a:ext cx="28342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strike="noStrike" spc="-1">
                <a:solidFill>
                  <a:srgbClr val="5C6B7E"/>
                </a:solidFill>
                <a:latin typeface="Calibri"/>
                <a:ea typeface="Calibri"/>
              </a:rPr>
              <a:t>When we decline or refer, the reason is captured and defensible in a market-conduct exam.</a:t>
            </a:r>
            <a:endParaRPr lang="en-US" sz="1200" b="0" strike="noStrike" spc="-1">
              <a:solidFill>
                <a:srgbClr val="000000"/>
              </a:solidFill>
              <a:latin typeface="Arial"/>
            </a:endParaRPr>
          </a:p>
        </p:txBody>
      </p:sp>
      <p:sp>
        <p:nvSpPr>
          <p:cNvPr id="119" name="Shape 11"/>
          <p:cNvSpPr/>
          <p:nvPr/>
        </p:nvSpPr>
        <p:spPr>
          <a:xfrm>
            <a:off x="8010000" y="2743200"/>
            <a:ext cx="3428640" cy="2285640"/>
          </a:xfrm>
          <a:prstGeom prst="roundRect">
            <a:avLst>
              <a:gd name="adj" fmla="val 24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0" name="Shape 12"/>
          <p:cNvSpPr/>
          <p:nvPr/>
        </p:nvSpPr>
        <p:spPr>
          <a:xfrm>
            <a:off x="8330040" y="3017520"/>
            <a:ext cx="411120" cy="41112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 name="Text 13"/>
          <p:cNvSpPr/>
          <p:nvPr/>
        </p:nvSpPr>
        <p:spPr>
          <a:xfrm>
            <a:off x="8330040" y="35661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C2534"/>
                </a:solidFill>
                <a:latin typeface="Cambria"/>
                <a:ea typeface="Cambria"/>
              </a:rPr>
              <a:t>One standard, not 50</a:t>
            </a:r>
            <a:endParaRPr lang="en-US" sz="1500" b="0" strike="noStrike" spc="-1">
              <a:solidFill>
                <a:srgbClr val="000000"/>
              </a:solidFill>
              <a:latin typeface="Arial"/>
            </a:endParaRPr>
          </a:p>
        </p:txBody>
      </p:sp>
      <p:sp>
        <p:nvSpPr>
          <p:cNvPr id="122" name="Text 14"/>
          <p:cNvSpPr/>
          <p:nvPr/>
        </p:nvSpPr>
        <p:spPr>
          <a:xfrm>
            <a:off x="8330040" y="4114800"/>
            <a:ext cx="28342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200" b="0" strike="noStrike" spc="-1">
                <a:solidFill>
                  <a:srgbClr val="5C6B7E"/>
                </a:solidFill>
                <a:latin typeface="Calibri"/>
                <a:ea typeface="Calibri"/>
              </a:rPr>
              <a:t>Build to the toughest rule once; every looser state is automatically covered.</a:t>
            </a:r>
            <a:endParaRPr lang="en-US" sz="1200" b="0" strike="noStrike" spc="-1">
              <a:solidFill>
                <a:srgbClr val="000000"/>
              </a:solidFill>
              <a:latin typeface="Arial"/>
            </a:endParaRPr>
          </a:p>
        </p:txBody>
      </p:sp>
      <p:sp>
        <p:nvSpPr>
          <p:cNvPr id="123" name="Text 15"/>
          <p:cNvSpPr/>
          <p:nvPr/>
        </p:nvSpPr>
        <p:spPr>
          <a:xfrm>
            <a:off x="640080" y="530352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strike="noStrike" spc="-1">
                <a:solidFill>
                  <a:srgbClr val="1C2534"/>
                </a:solidFill>
                <a:latin typeface="Calibri"/>
                <a:ea typeface="Calibri"/>
              </a:rPr>
              <a:t>In an AI-underwriting world, </a:t>
            </a:r>
            <a:r>
              <a:rPr lang="en-US" sz="1800" b="1" strike="noStrike" spc="-1">
                <a:solidFill>
                  <a:srgbClr val="B7791F"/>
                </a:solidFill>
                <a:latin typeface="Calibri"/>
                <a:ea typeface="Calibri"/>
              </a:rPr>
              <a:t>defensibility is the product.</a:t>
            </a:r>
            <a:endParaRPr lang="en-US" sz="1800" b="0" strike="noStrike" spc="-1">
              <a:solidFill>
                <a:srgbClr val="000000"/>
              </a:solidFill>
              <a:latin typeface="Arial"/>
            </a:endParaRPr>
          </a:p>
        </p:txBody>
      </p:sp>
      <p:sp>
        <p:nvSpPr>
          <p:cNvPr id="124" name="Text 16"/>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25" name="Text 17"/>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07</a:t>
            </a:r>
            <a:endParaRPr lang="en-US" sz="9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B2A"/>
        </a:solidFill>
        <a:effectLst/>
      </p:bgPr>
    </p:bg>
    <p:spTree>
      <p:nvGrpSpPr>
        <p:cNvPr id="1" name=""/>
        <p:cNvGrpSpPr/>
        <p:nvPr/>
      </p:nvGrpSpPr>
      <p:grpSpPr>
        <a:xfrm>
          <a:off x="0" y="0"/>
          <a:ext cx="0" cy="0"/>
          <a:chOff x="0" y="0"/>
          <a:chExt cx="0" cy="0"/>
        </a:xfrm>
      </p:grpSpPr>
      <p:sp>
        <p:nvSpPr>
          <p:cNvPr id="126"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E0A62E"/>
                </a:solidFill>
                <a:latin typeface="Calibri"/>
                <a:ea typeface="Calibri"/>
              </a:rPr>
              <a:t>PROOF</a:t>
            </a:r>
            <a:endParaRPr lang="en-US" sz="1200" b="0" strike="noStrike" spc="-1">
              <a:solidFill>
                <a:srgbClr val="FFFFFF"/>
              </a:solidFill>
              <a:latin typeface="Arial"/>
            </a:endParaRPr>
          </a:p>
        </p:txBody>
      </p:sp>
      <p:sp>
        <p:nvSpPr>
          <p:cNvPr id="127"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FFFFFF"/>
                </a:solidFill>
                <a:latin typeface="Cambria"/>
                <a:ea typeface="Cambria"/>
              </a:rPr>
              <a:t>The machine runs today — end to end</a:t>
            </a:r>
            <a:endParaRPr lang="en-US" sz="3200" b="0" strike="noStrike" spc="-1">
              <a:solidFill>
                <a:srgbClr val="FFFFFF"/>
              </a:solidFill>
              <a:latin typeface="Arial"/>
            </a:endParaRPr>
          </a:p>
        </p:txBody>
      </p:sp>
      <p:sp>
        <p:nvSpPr>
          <p:cNvPr id="128" name="Text 2"/>
          <p:cNvSpPr/>
          <p:nvPr/>
        </p:nvSpPr>
        <p:spPr>
          <a:xfrm>
            <a:off x="640080" y="2148840"/>
            <a:ext cx="25599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E0A62E"/>
                </a:solidFill>
                <a:latin typeface="Cambria"/>
                <a:ea typeface="Cambria"/>
              </a:rPr>
              <a:t>3,300</a:t>
            </a:r>
            <a:endParaRPr lang="en-US" sz="5200" b="0" strike="noStrike" spc="-1">
              <a:solidFill>
                <a:srgbClr val="FFFFFF"/>
              </a:solidFill>
              <a:latin typeface="Arial"/>
            </a:endParaRPr>
          </a:p>
        </p:txBody>
      </p:sp>
      <p:sp>
        <p:nvSpPr>
          <p:cNvPr id="129" name="Text 3"/>
          <p:cNvSpPr/>
          <p:nvPr/>
        </p:nvSpPr>
        <p:spPr>
          <a:xfrm>
            <a:off x="667440" y="320040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9FB0C6"/>
                </a:solidFill>
                <a:latin typeface="Calibri"/>
                <a:ea typeface="Calibri"/>
              </a:rPr>
              <a:t>submissions processed</a:t>
            </a:r>
            <a:endParaRPr lang="en-US" sz="1400" b="0" strike="noStrike" spc="-1">
              <a:solidFill>
                <a:srgbClr val="FFFFFF"/>
              </a:solidFill>
              <a:latin typeface="Arial"/>
            </a:endParaRPr>
          </a:p>
        </p:txBody>
      </p:sp>
      <p:sp>
        <p:nvSpPr>
          <p:cNvPr id="130" name="Text 4"/>
          <p:cNvSpPr/>
          <p:nvPr/>
        </p:nvSpPr>
        <p:spPr>
          <a:xfrm>
            <a:off x="3383280" y="2148840"/>
            <a:ext cx="25599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E0A62E"/>
                </a:solidFill>
                <a:latin typeface="Cambria"/>
                <a:ea typeface="Cambria"/>
              </a:rPr>
              <a:t>73%</a:t>
            </a:r>
            <a:endParaRPr lang="en-US" sz="5200" b="0" strike="noStrike" spc="-1">
              <a:solidFill>
                <a:srgbClr val="FFFFFF"/>
              </a:solidFill>
              <a:latin typeface="Arial"/>
            </a:endParaRPr>
          </a:p>
        </p:txBody>
      </p:sp>
      <p:sp>
        <p:nvSpPr>
          <p:cNvPr id="131" name="Text 5"/>
          <p:cNvSpPr/>
          <p:nvPr/>
        </p:nvSpPr>
        <p:spPr>
          <a:xfrm>
            <a:off x="3410640" y="320040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9FB0C6"/>
                </a:solidFill>
                <a:latin typeface="Calibri"/>
                <a:ea typeface="Calibri"/>
              </a:rPr>
              <a:t>bind ratio</a:t>
            </a:r>
            <a:endParaRPr lang="en-US" sz="1400" b="0" strike="noStrike" spc="-1">
              <a:solidFill>
                <a:srgbClr val="FFFFFF"/>
              </a:solidFill>
              <a:latin typeface="Arial"/>
            </a:endParaRPr>
          </a:p>
        </p:txBody>
      </p:sp>
      <p:sp>
        <p:nvSpPr>
          <p:cNvPr id="132" name="Text 6"/>
          <p:cNvSpPr/>
          <p:nvPr/>
        </p:nvSpPr>
        <p:spPr>
          <a:xfrm>
            <a:off x="6126480" y="2148840"/>
            <a:ext cx="25599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E0A62E"/>
                </a:solidFill>
                <a:latin typeface="Cambria"/>
                <a:ea typeface="Cambria"/>
              </a:rPr>
              <a:t>$23.0M</a:t>
            </a:r>
            <a:endParaRPr lang="en-US" sz="5200" b="0" strike="noStrike" spc="-1">
              <a:solidFill>
                <a:srgbClr val="FFFFFF"/>
              </a:solidFill>
              <a:latin typeface="Arial"/>
            </a:endParaRPr>
          </a:p>
        </p:txBody>
      </p:sp>
      <p:sp>
        <p:nvSpPr>
          <p:cNvPr id="133" name="Text 7"/>
          <p:cNvSpPr/>
          <p:nvPr/>
        </p:nvSpPr>
        <p:spPr>
          <a:xfrm>
            <a:off x="6153840" y="320040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9FB0C6"/>
                </a:solidFill>
                <a:latin typeface="Calibri"/>
                <a:ea typeface="Calibri"/>
              </a:rPr>
              <a:t>GWP (modeled)</a:t>
            </a:r>
            <a:endParaRPr lang="en-US" sz="1400" b="0" strike="noStrike" spc="-1">
              <a:solidFill>
                <a:srgbClr val="FFFFFF"/>
              </a:solidFill>
              <a:latin typeface="Arial"/>
            </a:endParaRPr>
          </a:p>
        </p:txBody>
      </p:sp>
      <p:sp>
        <p:nvSpPr>
          <p:cNvPr id="134" name="Text 8"/>
          <p:cNvSpPr/>
          <p:nvPr/>
        </p:nvSpPr>
        <p:spPr>
          <a:xfrm>
            <a:off x="8869680" y="2148840"/>
            <a:ext cx="25599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E0A62E"/>
                </a:solidFill>
                <a:latin typeface="Cambria"/>
                <a:ea typeface="Cambria"/>
              </a:rPr>
              <a:t>4</a:t>
            </a:r>
            <a:endParaRPr lang="en-US" sz="5200" b="0" strike="noStrike" spc="-1">
              <a:solidFill>
                <a:srgbClr val="FFFFFF"/>
              </a:solidFill>
              <a:latin typeface="Arial"/>
            </a:endParaRPr>
          </a:p>
        </p:txBody>
      </p:sp>
      <p:sp>
        <p:nvSpPr>
          <p:cNvPr id="135" name="Text 9"/>
          <p:cNvSpPr/>
          <p:nvPr/>
        </p:nvSpPr>
        <p:spPr>
          <a:xfrm>
            <a:off x="8897040" y="320040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9FB0C6"/>
                </a:solidFill>
                <a:latin typeface="Calibri"/>
                <a:ea typeface="Calibri"/>
              </a:rPr>
              <a:t>states onboarded</a:t>
            </a:r>
            <a:endParaRPr lang="en-US" sz="1400" b="0" strike="noStrike" spc="-1">
              <a:solidFill>
                <a:srgbClr val="FFFFFF"/>
              </a:solidFill>
              <a:latin typeface="Arial"/>
            </a:endParaRPr>
          </a:p>
        </p:txBody>
      </p:sp>
      <p:sp>
        <p:nvSpPr>
          <p:cNvPr id="136" name="Shape 10"/>
          <p:cNvSpPr/>
          <p:nvPr/>
        </p:nvSpPr>
        <p:spPr>
          <a:xfrm>
            <a:off x="640080" y="4160520"/>
            <a:ext cx="10908360" cy="1051200"/>
          </a:xfrm>
          <a:prstGeom prst="roundRect">
            <a:avLst>
              <a:gd name="adj" fmla="val 5217"/>
            </a:avLst>
          </a:prstGeom>
          <a:solidFill>
            <a:srgbClr val="33465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 name="Text 11"/>
          <p:cNvSpPr/>
          <p:nvPr/>
        </p:nvSpPr>
        <p:spPr>
          <a:xfrm>
            <a:off x="960120" y="4160520"/>
            <a:ext cx="1024092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Full pipeline — intake to bound policy — </a:t>
            </a:r>
            <a:r>
              <a:rPr lang="en-US" sz="1500" b="0" strike="noStrike" spc="-1">
                <a:solidFill>
                  <a:srgbClr val="9FB0C6"/>
                </a:solidFill>
                <a:latin typeface="Calibri"/>
                <a:ea typeface="Calibri"/>
              </a:rPr>
              <a:t>plus a live investor dashboard and control panel, running on cloud infrastructure with per-state compliance rules exercised.</a:t>
            </a:r>
            <a:endParaRPr lang="en-US" sz="1500" b="0" strike="noStrike" spc="-1">
              <a:solidFill>
                <a:srgbClr val="FFFFFF"/>
              </a:solidFill>
              <a:latin typeface="Arial"/>
            </a:endParaRPr>
          </a:p>
        </p:txBody>
      </p:sp>
      <p:sp>
        <p:nvSpPr>
          <p:cNvPr id="138" name="Text 12"/>
          <p:cNvSpPr/>
          <p:nvPr/>
        </p:nvSpPr>
        <p:spPr>
          <a:xfrm>
            <a:off x="640080" y="59436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strike="noStrike" spc="-1">
                <a:solidFill>
                  <a:srgbClr val="9FB0C6"/>
                </a:solidFill>
                <a:latin typeface="Calibri"/>
                <a:ea typeface="Calibri"/>
              </a:rPr>
              <a:t>Modeled demonstration · synthetic data · not in-force results.</a:t>
            </a:r>
            <a:endParaRPr lang="en-US" sz="1100" b="0" strike="noStrike" spc="-1">
              <a:solidFill>
                <a:srgbClr val="FFFFF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ECONOMICS</a:t>
            </a:r>
            <a:endParaRPr lang="en-US" sz="1200" b="0" strike="noStrike" spc="-1">
              <a:solidFill>
                <a:srgbClr val="000000"/>
              </a:solidFill>
              <a:latin typeface="Arial"/>
            </a:endParaRPr>
          </a:p>
        </p:txBody>
      </p:sp>
      <p:sp>
        <p:nvSpPr>
          <p:cNvPr id="140"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Lean by design</a:t>
            </a:r>
            <a:endParaRPr lang="en-US" sz="3200" b="0" strike="noStrike" spc="-1">
              <a:solidFill>
                <a:srgbClr val="000000"/>
              </a:solidFill>
              <a:latin typeface="Arial"/>
            </a:endParaRPr>
          </a:p>
        </p:txBody>
      </p:sp>
      <p:sp>
        <p:nvSpPr>
          <p:cNvPr id="141" name="Text 2"/>
          <p:cNvSpPr/>
          <p:nvPr/>
        </p:nvSpPr>
        <p:spPr>
          <a:xfrm>
            <a:off x="640080" y="1691640"/>
            <a:ext cx="10881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600" b="0" strike="noStrike" spc="-1">
                <a:solidFill>
                  <a:srgbClr val="1C2534"/>
                </a:solidFill>
                <a:latin typeface="Calibri"/>
                <a:ea typeface="Calibri"/>
              </a:rPr>
              <a:t>25% total acquisition cost, and a profit-commission share when the book performs. The rest of the premium flows to capacity.</a:t>
            </a:r>
            <a:endParaRPr lang="en-US" sz="1600" b="0" strike="noStrike" spc="-1">
              <a:solidFill>
                <a:srgbClr val="000000"/>
              </a:solidFill>
              <a:latin typeface="Arial"/>
            </a:endParaRPr>
          </a:p>
        </p:txBody>
      </p:sp>
      <p:sp>
        <p:nvSpPr>
          <p:cNvPr id="142" name="Shape 3"/>
          <p:cNvSpPr/>
          <p:nvPr/>
        </p:nvSpPr>
        <p:spPr>
          <a:xfrm>
            <a:off x="640080" y="2743200"/>
            <a:ext cx="1363320" cy="868320"/>
          </a:xfrm>
          <a:prstGeom prst="rect">
            <a:avLst/>
          </a:prstGeom>
          <a:solidFill>
            <a:srgbClr val="1F3A5F"/>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3" name="Text 4"/>
          <p:cNvSpPr/>
          <p:nvPr/>
        </p:nvSpPr>
        <p:spPr>
          <a:xfrm>
            <a:off x="640080" y="2743200"/>
            <a:ext cx="136332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Cambria"/>
                <a:ea typeface="Cambria"/>
              </a:rPr>
              <a:t>12.5%</a:t>
            </a:r>
            <a:endParaRPr lang="en-US" sz="1800" b="0" strike="noStrike" spc="-1">
              <a:solidFill>
                <a:srgbClr val="000000"/>
              </a:solidFill>
              <a:latin typeface="Arial"/>
            </a:endParaRPr>
          </a:p>
        </p:txBody>
      </p:sp>
      <p:sp>
        <p:nvSpPr>
          <p:cNvPr id="144" name="Text 5"/>
          <p:cNvSpPr/>
          <p:nvPr/>
        </p:nvSpPr>
        <p:spPr>
          <a:xfrm>
            <a:off x="640080" y="3684960"/>
            <a:ext cx="1363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5C6B7E"/>
                </a:solidFill>
                <a:latin typeface="Calibri"/>
                <a:ea typeface="Calibri"/>
              </a:rPr>
              <a:t>Torque MGA</a:t>
            </a:r>
            <a:endParaRPr lang="en-US" sz="1250" b="0" strike="noStrike" spc="-1">
              <a:solidFill>
                <a:srgbClr val="000000"/>
              </a:solidFill>
              <a:latin typeface="Arial"/>
            </a:endParaRPr>
          </a:p>
        </p:txBody>
      </p:sp>
      <p:sp>
        <p:nvSpPr>
          <p:cNvPr id="145" name="Shape 6"/>
          <p:cNvSpPr/>
          <p:nvPr/>
        </p:nvSpPr>
        <p:spPr>
          <a:xfrm>
            <a:off x="2003760" y="2743200"/>
            <a:ext cx="1363320" cy="868320"/>
          </a:xfrm>
          <a:prstGeom prst="rect">
            <a:avLst/>
          </a:prstGeom>
          <a:solidFill>
            <a:srgbClr val="33465F"/>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6" name="Text 7"/>
          <p:cNvSpPr/>
          <p:nvPr/>
        </p:nvSpPr>
        <p:spPr>
          <a:xfrm>
            <a:off x="2003760" y="2743200"/>
            <a:ext cx="136332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Cambria"/>
                <a:ea typeface="Cambria"/>
              </a:rPr>
              <a:t>12.5%</a:t>
            </a:r>
            <a:endParaRPr lang="en-US" sz="1800" b="0" strike="noStrike" spc="-1">
              <a:solidFill>
                <a:srgbClr val="000000"/>
              </a:solidFill>
              <a:latin typeface="Arial"/>
            </a:endParaRPr>
          </a:p>
        </p:txBody>
      </p:sp>
      <p:sp>
        <p:nvSpPr>
          <p:cNvPr id="147" name="Text 8"/>
          <p:cNvSpPr/>
          <p:nvPr/>
        </p:nvSpPr>
        <p:spPr>
          <a:xfrm>
            <a:off x="2003760" y="3684960"/>
            <a:ext cx="1363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5C6B7E"/>
                </a:solidFill>
                <a:latin typeface="Calibri"/>
                <a:ea typeface="Calibri"/>
              </a:rPr>
              <a:t>Broker</a:t>
            </a:r>
            <a:endParaRPr lang="en-US" sz="1250" b="0" strike="noStrike" spc="-1">
              <a:solidFill>
                <a:srgbClr val="000000"/>
              </a:solidFill>
              <a:latin typeface="Arial"/>
            </a:endParaRPr>
          </a:p>
        </p:txBody>
      </p:sp>
      <p:sp>
        <p:nvSpPr>
          <p:cNvPr id="148" name="Shape 9"/>
          <p:cNvSpPr/>
          <p:nvPr/>
        </p:nvSpPr>
        <p:spPr>
          <a:xfrm>
            <a:off x="3367440" y="2743200"/>
            <a:ext cx="8181360" cy="868320"/>
          </a:xfrm>
          <a:prstGeom prst="rect">
            <a:avLst/>
          </a:prstGeom>
          <a:solidFill>
            <a:srgbClr val="E0A62E"/>
          </a:solid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9" name="Text 10"/>
          <p:cNvSpPr/>
          <p:nvPr/>
        </p:nvSpPr>
        <p:spPr>
          <a:xfrm>
            <a:off x="3367440" y="2743200"/>
            <a:ext cx="81813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1C2534"/>
                </a:solidFill>
                <a:latin typeface="Cambria"/>
                <a:ea typeface="Cambria"/>
              </a:rPr>
              <a:t>75%</a:t>
            </a:r>
            <a:endParaRPr lang="en-US" sz="1800" b="0" strike="noStrike" spc="-1">
              <a:solidFill>
                <a:srgbClr val="000000"/>
              </a:solidFill>
              <a:latin typeface="Arial"/>
            </a:endParaRPr>
          </a:p>
        </p:txBody>
      </p:sp>
      <p:sp>
        <p:nvSpPr>
          <p:cNvPr id="150" name="Text 11"/>
          <p:cNvSpPr/>
          <p:nvPr/>
        </p:nvSpPr>
        <p:spPr>
          <a:xfrm>
            <a:off x="3367440" y="3684960"/>
            <a:ext cx="8181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5C6B7E"/>
                </a:solidFill>
                <a:latin typeface="Calibri"/>
                <a:ea typeface="Calibri"/>
              </a:rPr>
              <a:t>Capacity</a:t>
            </a:r>
            <a:endParaRPr lang="en-US" sz="1250" b="0" strike="noStrike" spc="-1">
              <a:solidFill>
                <a:srgbClr val="000000"/>
              </a:solidFill>
              <a:latin typeface="Arial"/>
            </a:endParaRPr>
          </a:p>
        </p:txBody>
      </p:sp>
      <p:sp>
        <p:nvSpPr>
          <p:cNvPr id="151" name="Shape 12"/>
          <p:cNvSpPr/>
          <p:nvPr/>
        </p:nvSpPr>
        <p:spPr>
          <a:xfrm>
            <a:off x="640080" y="4434840"/>
            <a:ext cx="10908360" cy="1416960"/>
          </a:xfrm>
          <a:prstGeom prst="roundRect">
            <a:avLst>
              <a:gd name="adj" fmla="val 3871"/>
            </a:avLst>
          </a:prstGeom>
          <a:solidFill>
            <a:srgbClr val="F4F6FA"/>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2" name="Text 13"/>
          <p:cNvSpPr/>
          <p:nvPr/>
        </p:nvSpPr>
        <p:spPr>
          <a:xfrm>
            <a:off x="960120" y="4434840"/>
            <a:ext cx="10240920" cy="141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500" b="1" strike="noStrike" spc="-1">
                <a:solidFill>
                  <a:srgbClr val="B7791F"/>
                </a:solidFill>
                <a:latin typeface="Calibri"/>
                <a:ea typeface="Calibri"/>
              </a:rPr>
              <a:t>Why it compounds:  </a:t>
            </a:r>
            <a:r>
              <a:rPr lang="en-US" sz="1500" b="0" strike="noStrike" spc="-1">
                <a:solidFill>
                  <a:srgbClr val="1C2534"/>
                </a:solidFill>
                <a:latin typeface="Calibri"/>
                <a:ea typeface="Calibri"/>
              </a:rPr>
              <a:t>the cost to write and service a policy is largely software. As volume grows, revenue scales with the book while the cost base barely moves — the expense ratio falls exactly when the market makes everyone else's rise.</a:t>
            </a:r>
            <a:endParaRPr lang="en-US" sz="1500" b="0" strike="noStrike" spc="-1">
              <a:solidFill>
                <a:srgbClr val="000000"/>
              </a:solidFill>
              <a:latin typeface="Arial"/>
            </a:endParaRPr>
          </a:p>
        </p:txBody>
      </p:sp>
      <p:sp>
        <p:nvSpPr>
          <p:cNvPr id="153" name="Text 14"/>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54" name="Text 15"/>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09</a:t>
            </a:r>
            <a:endParaRPr lang="en-US" sz="9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155"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UNIT ECONOMICS</a:t>
            </a:r>
            <a:endParaRPr lang="en-US" sz="1200" b="0" strike="noStrike" spc="-1">
              <a:solidFill>
                <a:srgbClr val="000000"/>
              </a:solidFill>
              <a:latin typeface="Arial"/>
            </a:endParaRPr>
          </a:p>
        </p:txBody>
      </p:sp>
      <p:sp>
        <p:nvSpPr>
          <p:cNvPr id="156"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The model goes here</a:t>
            </a:r>
            <a:endParaRPr lang="en-US" sz="3200" b="0" strike="noStrike" spc="-1">
              <a:solidFill>
                <a:srgbClr val="000000"/>
              </a:solidFill>
              <a:latin typeface="Arial"/>
            </a:endParaRPr>
          </a:p>
        </p:txBody>
      </p:sp>
      <p:sp>
        <p:nvSpPr>
          <p:cNvPr id="157" name="Shape 2"/>
          <p:cNvSpPr/>
          <p:nvPr/>
        </p:nvSpPr>
        <p:spPr>
          <a:xfrm>
            <a:off x="640080" y="1828800"/>
            <a:ext cx="10908360" cy="2834280"/>
          </a:xfrm>
          <a:prstGeom prst="roundRect">
            <a:avLst>
              <a:gd name="adj" fmla="val 1935"/>
            </a:avLst>
          </a:prstGeom>
          <a:solidFill>
            <a:srgbClr val="ECF0F6"/>
          </a:solidFill>
          <a:ln w="19050">
            <a:solidFill>
              <a:srgbClr val="33465F"/>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8" name="Text 3"/>
          <p:cNvSpPr/>
          <p:nvPr/>
        </p:nvSpPr>
        <p:spPr>
          <a:xfrm>
            <a:off x="1005840" y="265176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33465F"/>
                </a:solidFill>
                <a:latin typeface="Calibri"/>
                <a:ea typeface="Calibri"/>
              </a:rPr>
              <a:t>[  Full P&amp;L · expense ratio · unit economics — to be populated with cleared figures  ]</a:t>
            </a:r>
            <a:endParaRPr lang="en-US" sz="1800" b="0" strike="noStrike" spc="-1">
              <a:solidFill>
                <a:srgbClr val="000000"/>
              </a:solidFill>
              <a:latin typeface="Arial"/>
            </a:endParaRPr>
          </a:p>
        </p:txBody>
      </p:sp>
      <p:sp>
        <p:nvSpPr>
          <p:cNvPr id="159" name="Text 4"/>
          <p:cNvSpPr/>
          <p:nvPr/>
        </p:nvSpPr>
        <p:spPr>
          <a:xfrm>
            <a:off x="1005840" y="3383280"/>
            <a:ext cx="10149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i="1" strike="noStrike" spc="-1">
                <a:solidFill>
                  <a:srgbClr val="5C6B7E"/>
                </a:solidFill>
                <a:latin typeface="Calibri"/>
                <a:ea typeface="Calibri"/>
              </a:rPr>
              <a:t>Kent — drop the model in here once numbers are signed off.</a:t>
            </a:r>
            <a:endParaRPr lang="en-US" sz="1300" b="0" strike="noStrike" spc="-1">
              <a:solidFill>
                <a:srgbClr val="000000"/>
              </a:solidFill>
              <a:latin typeface="Arial"/>
            </a:endParaRPr>
          </a:p>
        </p:txBody>
      </p:sp>
      <p:sp>
        <p:nvSpPr>
          <p:cNvPr id="160" name="Text 5"/>
          <p:cNvSpPr/>
          <p:nvPr/>
        </p:nvSpPr>
        <p:spPr>
          <a:xfrm>
            <a:off x="640080" y="4937760"/>
            <a:ext cx="10881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300" b="0" strike="noStrike" spc="-1">
                <a:solidFill>
                  <a:srgbClr val="5C6B7E"/>
                </a:solidFill>
                <a:latin typeface="Calibri"/>
                <a:ea typeface="Calibri"/>
              </a:rPr>
              <a:t>Drivers to show: target expense ratio · blended commission · profit-commission bands · plan GWP · loss-ratio assumption (technical basis).</a:t>
            </a:r>
            <a:endParaRPr lang="en-US" sz="1300" b="0" strike="noStrike" spc="-1">
              <a:solidFill>
                <a:srgbClr val="000000"/>
              </a:solidFill>
              <a:latin typeface="Arial"/>
            </a:endParaRPr>
          </a:p>
        </p:txBody>
      </p:sp>
      <p:sp>
        <p:nvSpPr>
          <p:cNvPr id="161" name="Text 6"/>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62" name="Text 7"/>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10</a:t>
            </a:r>
            <a:endParaRPr lang="en-US" sz="9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STATUS</a:t>
            </a:r>
            <a:endParaRPr lang="en-US" sz="1200" b="0" strike="noStrike" spc="-1">
              <a:solidFill>
                <a:srgbClr val="000000"/>
              </a:solidFill>
              <a:latin typeface="Arial"/>
            </a:endParaRPr>
          </a:p>
        </p:txBody>
      </p:sp>
      <p:sp>
        <p:nvSpPr>
          <p:cNvPr id="164"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Where we are — honestly</a:t>
            </a:r>
            <a:endParaRPr lang="en-US" sz="3200" b="0" strike="noStrike" spc="-1">
              <a:solidFill>
                <a:srgbClr val="000000"/>
              </a:solidFill>
              <a:latin typeface="Arial"/>
            </a:endParaRPr>
          </a:p>
        </p:txBody>
      </p:sp>
      <p:sp>
        <p:nvSpPr>
          <p:cNvPr id="165" name="Shape 2"/>
          <p:cNvSpPr/>
          <p:nvPr/>
        </p:nvSpPr>
        <p:spPr>
          <a:xfrm>
            <a:off x="640080" y="1874520"/>
            <a:ext cx="5303160" cy="3977280"/>
          </a:xfrm>
          <a:prstGeom prst="roundRect">
            <a:avLst>
              <a:gd name="adj" fmla="val 137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6" name="Text 3"/>
          <p:cNvSpPr/>
          <p:nvPr/>
        </p:nvSpPr>
        <p:spPr>
          <a:xfrm>
            <a:off x="960120" y="2103120"/>
            <a:ext cx="4663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9E76"/>
                </a:solidFill>
                <a:latin typeface="Calibri"/>
                <a:ea typeface="Calibri"/>
              </a:rPr>
              <a:t>BUILT</a:t>
            </a:r>
            <a:endParaRPr lang="en-US" sz="1300" b="0" strike="noStrike" spc="-1">
              <a:solidFill>
                <a:srgbClr val="000000"/>
              </a:solidFill>
              <a:latin typeface="Arial"/>
            </a:endParaRPr>
          </a:p>
        </p:txBody>
      </p:sp>
      <p:sp>
        <p:nvSpPr>
          <p:cNvPr id="167" name="Text 4"/>
          <p:cNvSpPr/>
          <p:nvPr/>
        </p:nvSpPr>
        <p:spPr>
          <a:xfrm>
            <a:off x="960120" y="2560320"/>
            <a:ext cx="4663080" cy="310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Platform live &amp; decision-tracked (40+ recorded decisions)</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Rating engine + referral / compliance gate</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Per-state compliance registry</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Demo environment, dashboard &amp; control panel</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Cloud infrastructure stood up</a:t>
            </a:r>
            <a:endParaRPr lang="en-US" sz="1350" b="0" strike="noStrike" spc="-1">
              <a:solidFill>
                <a:srgbClr val="000000"/>
              </a:solidFill>
              <a:latin typeface="Arial"/>
            </a:endParaRPr>
          </a:p>
        </p:txBody>
      </p:sp>
      <p:sp>
        <p:nvSpPr>
          <p:cNvPr id="168" name="Shape 5"/>
          <p:cNvSpPr/>
          <p:nvPr/>
        </p:nvSpPr>
        <p:spPr>
          <a:xfrm>
            <a:off x="6245280" y="1874520"/>
            <a:ext cx="5303160" cy="3977280"/>
          </a:xfrm>
          <a:prstGeom prst="roundRect">
            <a:avLst>
              <a:gd name="adj" fmla="val 1379"/>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9" name="Text 6"/>
          <p:cNvSpPr/>
          <p:nvPr/>
        </p:nvSpPr>
        <p:spPr>
          <a:xfrm>
            <a:off x="6565320" y="2103120"/>
            <a:ext cx="4663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B7791F"/>
                </a:solidFill>
                <a:latin typeface="Calibri"/>
                <a:ea typeface="Calibri"/>
              </a:rPr>
              <a:t>NEXT</a:t>
            </a:r>
            <a:endParaRPr lang="en-US" sz="1300" b="0" strike="noStrike" spc="-1">
              <a:solidFill>
                <a:srgbClr val="000000"/>
              </a:solidFill>
              <a:latin typeface="Arial"/>
            </a:endParaRPr>
          </a:p>
        </p:txBody>
      </p:sp>
      <p:sp>
        <p:nvSpPr>
          <p:cNvPr id="170" name="Text 7"/>
          <p:cNvSpPr/>
          <p:nvPr/>
        </p:nvSpPr>
        <p:spPr>
          <a:xfrm>
            <a:off x="6565320" y="2560320"/>
            <a:ext cx="4663080" cy="310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External data feeds (VIN decode, title, MVR)</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Sanctions / OFAC screening vendor</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Sub-state territory pricing (metro &amp; ZIP cat zones)</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Renewals workflow</a:t>
            </a:r>
            <a:endParaRPr lang="en-US" sz="1350" b="0" strike="noStrike" spc="-1">
              <a:solidFill>
                <a:srgbClr val="000000"/>
              </a:solidFill>
              <a:latin typeface="Arial"/>
            </a:endParaRPr>
          </a:p>
          <a:p>
            <a:pPr marL="190440" indent="-190440" defTabSz="914400">
              <a:lnSpc>
                <a:spcPct val="100000"/>
              </a:lnSpc>
              <a:spcAft>
                <a:spcPts val="799"/>
              </a:spcAft>
              <a:buClr>
                <a:srgbClr val="1C2534"/>
              </a:buClr>
              <a:buFont typeface="Symbol" charset="2"/>
              <a:buChar char=""/>
            </a:pPr>
            <a:r>
              <a:rPr lang="en-US" sz="1350" b="0" strike="noStrike" spc="-1">
                <a:solidFill>
                  <a:srgbClr val="1C2534"/>
                </a:solidFill>
                <a:latin typeface="Calibri"/>
                <a:ea typeface="Calibri"/>
              </a:rPr>
              <a:t>State-by-state filings toward 50-state rollout</a:t>
            </a:r>
            <a:endParaRPr lang="en-US" sz="1350" b="0" strike="noStrike" spc="-1">
              <a:solidFill>
                <a:srgbClr val="000000"/>
              </a:solidFill>
              <a:latin typeface="Arial"/>
            </a:endParaRPr>
          </a:p>
        </p:txBody>
      </p:sp>
      <p:sp>
        <p:nvSpPr>
          <p:cNvPr id="171" name="Text 8"/>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72" name="Text 9"/>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11</a:t>
            </a:r>
            <a:endParaRPr lang="en-US" sz="9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173" name="Text 0"/>
          <p:cNvSpPr/>
          <p:nvPr/>
        </p:nvSpPr>
        <p:spPr>
          <a:xfrm>
            <a:off x="640080" y="5029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B7791F"/>
                </a:solidFill>
                <a:latin typeface="Calibri"/>
                <a:ea typeface="Calibri"/>
              </a:rPr>
              <a:t>THE PATH</a:t>
            </a:r>
            <a:endParaRPr lang="en-US" sz="1200" b="0" strike="noStrike" spc="-1">
              <a:solidFill>
                <a:srgbClr val="000000"/>
              </a:solidFill>
              <a:latin typeface="Arial"/>
            </a:endParaRPr>
          </a:p>
        </p:txBody>
      </p:sp>
      <p:sp>
        <p:nvSpPr>
          <p:cNvPr id="174" name="Text 1"/>
          <p:cNvSpPr/>
          <p:nvPr/>
        </p:nvSpPr>
        <p:spPr>
          <a:xfrm>
            <a:off x="640080" y="7772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C2534"/>
                </a:solidFill>
                <a:latin typeface="Cambria"/>
                <a:ea typeface="Cambria"/>
              </a:rPr>
              <a:t>From 4 states to 50</a:t>
            </a:r>
            <a:endParaRPr lang="en-US" sz="3200" b="0" strike="noStrike" spc="-1">
              <a:solidFill>
                <a:srgbClr val="000000"/>
              </a:solidFill>
              <a:latin typeface="Arial"/>
            </a:endParaRPr>
          </a:p>
        </p:txBody>
      </p:sp>
      <p:sp>
        <p:nvSpPr>
          <p:cNvPr id="175" name="Text 2"/>
          <p:cNvSpPr/>
          <p:nvPr/>
        </p:nvSpPr>
        <p:spPr>
          <a:xfrm>
            <a:off x="640080" y="1691640"/>
            <a:ext cx="108810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600" b="1" strike="noStrike" spc="-1">
                <a:solidFill>
                  <a:srgbClr val="B7791F"/>
                </a:solidFill>
                <a:latin typeface="Calibri"/>
                <a:ea typeface="Calibri"/>
              </a:rPr>
              <a:t>The unlock:  </a:t>
            </a:r>
            <a:r>
              <a:rPr lang="en-US" sz="1600" b="0" strike="noStrike" spc="-1">
                <a:solidFill>
                  <a:srgbClr val="1C2534"/>
                </a:solidFill>
                <a:latin typeface="Calibri"/>
                <a:ea typeface="Calibri"/>
              </a:rPr>
              <a:t>national base rates + a per-state (then sub-state) territory factor. We scale geographically without rebuilding the rating engine for every state.</a:t>
            </a:r>
            <a:endParaRPr lang="en-US" sz="1600" b="0" strike="noStrike" spc="-1">
              <a:solidFill>
                <a:srgbClr val="000000"/>
              </a:solidFill>
              <a:latin typeface="Arial"/>
            </a:endParaRPr>
          </a:p>
        </p:txBody>
      </p:sp>
      <p:sp>
        <p:nvSpPr>
          <p:cNvPr id="176" name="Shape 3"/>
          <p:cNvSpPr/>
          <p:nvPr/>
        </p:nvSpPr>
        <p:spPr>
          <a:xfrm>
            <a:off x="640080" y="2743200"/>
            <a:ext cx="3428640" cy="2742840"/>
          </a:xfrm>
          <a:prstGeom prst="roundRect">
            <a:avLst>
              <a:gd name="adj" fmla="val 20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7" name="Text 4"/>
          <p:cNvSpPr/>
          <p:nvPr/>
        </p:nvSpPr>
        <p:spPr>
          <a:xfrm>
            <a:off x="960120" y="2971800"/>
            <a:ext cx="2834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E0A62E"/>
                </a:solidFill>
                <a:latin typeface="Calibri"/>
                <a:ea typeface="Calibri"/>
              </a:rPr>
              <a:t>PHASE 1</a:t>
            </a:r>
            <a:endParaRPr lang="en-US" sz="1200" b="0" strike="noStrike" spc="-1">
              <a:solidFill>
                <a:srgbClr val="000000"/>
              </a:solidFill>
              <a:latin typeface="Arial"/>
            </a:endParaRPr>
          </a:p>
        </p:txBody>
      </p:sp>
      <p:sp>
        <p:nvSpPr>
          <p:cNvPr id="178" name="Text 5"/>
          <p:cNvSpPr/>
          <p:nvPr/>
        </p:nvSpPr>
        <p:spPr>
          <a:xfrm>
            <a:off x="960120" y="33375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C2534"/>
                </a:solidFill>
                <a:latin typeface="Cambria"/>
                <a:ea typeface="Cambria"/>
              </a:rPr>
              <a:t>Launch states</a:t>
            </a:r>
            <a:endParaRPr lang="en-US" sz="1800" b="0" strike="noStrike" spc="-1">
              <a:solidFill>
                <a:srgbClr val="000000"/>
              </a:solidFill>
              <a:latin typeface="Arial"/>
            </a:endParaRPr>
          </a:p>
        </p:txBody>
      </p:sp>
      <p:sp>
        <p:nvSpPr>
          <p:cNvPr id="179" name="Text 6"/>
          <p:cNvSpPr/>
          <p:nvPr/>
        </p:nvSpPr>
        <p:spPr>
          <a:xfrm>
            <a:off x="960120" y="3977640"/>
            <a:ext cx="283428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300" b="0" strike="noStrike" spc="-1">
                <a:solidFill>
                  <a:srgbClr val="5C6B7E"/>
                </a:solidFill>
                <a:latin typeface="Calibri"/>
                <a:ea typeface="Calibri"/>
              </a:rPr>
              <a:t>Filed rates live in the first states; pipeline bound end to end.</a:t>
            </a:r>
            <a:endParaRPr lang="en-US" sz="1300" b="0" strike="noStrike" spc="-1">
              <a:solidFill>
                <a:srgbClr val="000000"/>
              </a:solidFill>
              <a:latin typeface="Arial"/>
            </a:endParaRPr>
          </a:p>
        </p:txBody>
      </p:sp>
      <p:sp>
        <p:nvSpPr>
          <p:cNvPr id="180" name="Text 7"/>
          <p:cNvSpPr/>
          <p:nvPr/>
        </p:nvSpPr>
        <p:spPr>
          <a:xfrm>
            <a:off x="4069080" y="2743200"/>
            <a:ext cx="255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E0A62E"/>
                </a:solidFill>
                <a:latin typeface="Calibri"/>
                <a:ea typeface="Calibri"/>
              </a:rPr>
              <a:t>→</a:t>
            </a:r>
            <a:endParaRPr lang="en-US" sz="2200" b="0" strike="noStrike" spc="-1">
              <a:solidFill>
                <a:srgbClr val="000000"/>
              </a:solidFill>
              <a:latin typeface="Arial"/>
            </a:endParaRPr>
          </a:p>
        </p:txBody>
      </p:sp>
      <p:sp>
        <p:nvSpPr>
          <p:cNvPr id="181" name="Shape 8"/>
          <p:cNvSpPr/>
          <p:nvPr/>
        </p:nvSpPr>
        <p:spPr>
          <a:xfrm>
            <a:off x="4325040" y="2743200"/>
            <a:ext cx="3428640" cy="2742840"/>
          </a:xfrm>
          <a:prstGeom prst="roundRect">
            <a:avLst>
              <a:gd name="adj" fmla="val 20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2" name="Text 9"/>
          <p:cNvSpPr/>
          <p:nvPr/>
        </p:nvSpPr>
        <p:spPr>
          <a:xfrm>
            <a:off x="4645080" y="2971800"/>
            <a:ext cx="2834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E0A62E"/>
                </a:solidFill>
                <a:latin typeface="Calibri"/>
                <a:ea typeface="Calibri"/>
              </a:rPr>
              <a:t>PHASE 2</a:t>
            </a:r>
            <a:endParaRPr lang="en-US" sz="1200" b="0" strike="noStrike" spc="-1">
              <a:solidFill>
                <a:srgbClr val="000000"/>
              </a:solidFill>
              <a:latin typeface="Arial"/>
            </a:endParaRPr>
          </a:p>
        </p:txBody>
      </p:sp>
      <p:sp>
        <p:nvSpPr>
          <p:cNvPr id="183" name="Text 10"/>
          <p:cNvSpPr/>
          <p:nvPr/>
        </p:nvSpPr>
        <p:spPr>
          <a:xfrm>
            <a:off x="4645080" y="33375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C2534"/>
                </a:solidFill>
                <a:latin typeface="Cambria"/>
                <a:ea typeface="Cambria"/>
              </a:rPr>
              <a:t>Territory depth</a:t>
            </a:r>
            <a:endParaRPr lang="en-US" sz="1800" b="0" strike="noStrike" spc="-1">
              <a:solidFill>
                <a:srgbClr val="000000"/>
              </a:solidFill>
              <a:latin typeface="Arial"/>
            </a:endParaRPr>
          </a:p>
        </p:txBody>
      </p:sp>
      <p:sp>
        <p:nvSpPr>
          <p:cNvPr id="184" name="Text 11"/>
          <p:cNvSpPr/>
          <p:nvPr/>
        </p:nvSpPr>
        <p:spPr>
          <a:xfrm>
            <a:off x="4645080" y="3977640"/>
            <a:ext cx="283428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300" b="0" strike="noStrike" spc="-1">
                <a:solidFill>
                  <a:srgbClr val="5C6B7E"/>
                </a:solidFill>
                <a:latin typeface="Calibri"/>
                <a:ea typeface="Calibri"/>
              </a:rPr>
              <a:t>Add metro relativities and ZIP-level catastrophe zones on top of the state factor.</a:t>
            </a:r>
            <a:endParaRPr lang="en-US" sz="1300" b="0" strike="noStrike" spc="-1">
              <a:solidFill>
                <a:srgbClr val="000000"/>
              </a:solidFill>
              <a:latin typeface="Arial"/>
            </a:endParaRPr>
          </a:p>
        </p:txBody>
      </p:sp>
      <p:sp>
        <p:nvSpPr>
          <p:cNvPr id="185" name="Text 12"/>
          <p:cNvSpPr/>
          <p:nvPr/>
        </p:nvSpPr>
        <p:spPr>
          <a:xfrm>
            <a:off x="7754040" y="2743200"/>
            <a:ext cx="255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E0A62E"/>
                </a:solidFill>
                <a:latin typeface="Calibri"/>
                <a:ea typeface="Calibri"/>
              </a:rPr>
              <a:t>→</a:t>
            </a:r>
            <a:endParaRPr lang="en-US" sz="2200" b="0" strike="noStrike" spc="-1">
              <a:solidFill>
                <a:srgbClr val="000000"/>
              </a:solidFill>
              <a:latin typeface="Arial"/>
            </a:endParaRPr>
          </a:p>
        </p:txBody>
      </p:sp>
      <p:sp>
        <p:nvSpPr>
          <p:cNvPr id="186" name="Shape 13"/>
          <p:cNvSpPr/>
          <p:nvPr/>
        </p:nvSpPr>
        <p:spPr>
          <a:xfrm>
            <a:off x="8010000" y="2743200"/>
            <a:ext cx="3428640" cy="2742840"/>
          </a:xfrm>
          <a:prstGeom prst="roundRect">
            <a:avLst>
              <a:gd name="adj" fmla="val 2000"/>
            </a:avLst>
          </a:prstGeom>
          <a:solidFill>
            <a:srgbClr val="FFFFFF"/>
          </a:solidFill>
          <a:ln w="12700">
            <a:solidFill>
              <a:srgbClr val="E3E8F0"/>
            </a:solidFill>
            <a:round/>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7" name="Text 14"/>
          <p:cNvSpPr/>
          <p:nvPr/>
        </p:nvSpPr>
        <p:spPr>
          <a:xfrm>
            <a:off x="8330040" y="2971800"/>
            <a:ext cx="2834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E0A62E"/>
                </a:solidFill>
                <a:latin typeface="Calibri"/>
                <a:ea typeface="Calibri"/>
              </a:rPr>
              <a:t>PHASE 3</a:t>
            </a:r>
            <a:endParaRPr lang="en-US" sz="1200" b="0" strike="noStrike" spc="-1">
              <a:solidFill>
                <a:srgbClr val="000000"/>
              </a:solidFill>
              <a:latin typeface="Arial"/>
            </a:endParaRPr>
          </a:p>
        </p:txBody>
      </p:sp>
      <p:sp>
        <p:nvSpPr>
          <p:cNvPr id="188" name="Text 15"/>
          <p:cNvSpPr/>
          <p:nvPr/>
        </p:nvSpPr>
        <p:spPr>
          <a:xfrm>
            <a:off x="8330040" y="3337560"/>
            <a:ext cx="2834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C2534"/>
                </a:solidFill>
                <a:latin typeface="Cambria"/>
                <a:ea typeface="Cambria"/>
              </a:rPr>
              <a:t>National + renewals</a:t>
            </a:r>
            <a:endParaRPr lang="en-US" sz="1800" b="0" strike="noStrike" spc="-1">
              <a:solidFill>
                <a:srgbClr val="000000"/>
              </a:solidFill>
              <a:latin typeface="Arial"/>
            </a:endParaRPr>
          </a:p>
        </p:txBody>
      </p:sp>
      <p:sp>
        <p:nvSpPr>
          <p:cNvPr id="189" name="Text 16"/>
          <p:cNvSpPr/>
          <p:nvPr/>
        </p:nvSpPr>
        <p:spPr>
          <a:xfrm>
            <a:off x="8330040" y="3977640"/>
            <a:ext cx="283428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300" b="0" strike="noStrike" spc="-1">
                <a:solidFill>
                  <a:srgbClr val="5C6B7E"/>
                </a:solidFill>
                <a:latin typeface="Calibri"/>
                <a:ea typeface="Calibri"/>
              </a:rPr>
              <a:t>Roll state filings out toward 50; stand up the renewal book.</a:t>
            </a:r>
            <a:endParaRPr lang="en-US" sz="1300" b="0" strike="noStrike" spc="-1">
              <a:solidFill>
                <a:srgbClr val="000000"/>
              </a:solidFill>
              <a:latin typeface="Arial"/>
            </a:endParaRPr>
          </a:p>
        </p:txBody>
      </p:sp>
      <p:sp>
        <p:nvSpPr>
          <p:cNvPr id="190" name="Text 17"/>
          <p:cNvSpPr/>
          <p:nvPr/>
        </p:nvSpPr>
        <p:spPr>
          <a:xfrm>
            <a:off x="640080" y="641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5C6B7E"/>
                </a:solidFill>
                <a:latin typeface="Calibri"/>
                <a:ea typeface="Calibri"/>
              </a:rPr>
              <a:t>Torque Underwriters</a:t>
            </a:r>
            <a:r>
              <a:rPr lang="en-US" sz="900" b="0" strike="noStrike" spc="-1">
                <a:solidFill>
                  <a:srgbClr val="5C6B7E"/>
                </a:solidFill>
                <a:latin typeface="Calibri"/>
                <a:ea typeface="Calibri"/>
              </a:rPr>
              <a:t>  ·  Investor briefing (working draft)</a:t>
            </a:r>
            <a:endParaRPr lang="en-US" sz="900" b="0" strike="noStrike" spc="-1">
              <a:solidFill>
                <a:srgbClr val="000000"/>
              </a:solidFill>
              <a:latin typeface="Arial"/>
            </a:endParaRPr>
          </a:p>
        </p:txBody>
      </p:sp>
      <p:sp>
        <p:nvSpPr>
          <p:cNvPr id="191" name="Text 18"/>
          <p:cNvSpPr/>
          <p:nvPr/>
        </p:nvSpPr>
        <p:spPr>
          <a:xfrm>
            <a:off x="11155680" y="64191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C6B7E"/>
                </a:solidFill>
                <a:latin typeface="Calibri"/>
                <a:ea typeface="Calibri"/>
              </a:rPr>
              <a:t>12</a:t>
            </a:r>
            <a:endParaRPr lang="en-US" sz="9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B2A"/>
        </a:solidFill>
        <a:effectLst/>
      </p:bgPr>
    </p:bg>
    <p:spTree>
      <p:nvGrpSpPr>
        <p:cNvPr id="1" name=""/>
        <p:cNvGrpSpPr/>
        <p:nvPr/>
      </p:nvGrpSpPr>
      <p:grpSpPr>
        <a:xfrm>
          <a:off x="0" y="0"/>
          <a:ext cx="0" cy="0"/>
          <a:chOff x="0" y="0"/>
          <a:chExt cx="0" cy="0"/>
        </a:xfrm>
      </p:grpSpPr>
      <p:sp>
        <p:nvSpPr>
          <p:cNvPr id="192" name="Text 0"/>
          <p:cNvSpPr/>
          <p:nvPr/>
        </p:nvSpPr>
        <p:spPr>
          <a:xfrm>
            <a:off x="640080" y="6400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299">
                <a:solidFill>
                  <a:srgbClr val="E0A62E"/>
                </a:solidFill>
                <a:latin typeface="Calibri"/>
                <a:ea typeface="Calibri"/>
              </a:rPr>
              <a:t>THE ASK</a:t>
            </a:r>
            <a:endParaRPr lang="en-US" sz="1200" b="0" strike="noStrike" spc="-1">
              <a:solidFill>
                <a:srgbClr val="FFFFFF"/>
              </a:solidFill>
              <a:latin typeface="Arial"/>
            </a:endParaRPr>
          </a:p>
        </p:txBody>
      </p:sp>
      <p:sp>
        <p:nvSpPr>
          <p:cNvPr id="193" name="Text 1"/>
          <p:cNvSpPr/>
          <p:nvPr/>
        </p:nvSpPr>
        <p:spPr>
          <a:xfrm>
            <a:off x="640080" y="1188720"/>
            <a:ext cx="108810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FFFFFF"/>
                </a:solidFill>
                <a:latin typeface="Cambria"/>
                <a:ea typeface="Cambria"/>
              </a:rPr>
              <a:t>[  Raise:  $X  ]</a:t>
            </a:r>
            <a:endParaRPr lang="en-US" sz="4400" b="0" strike="noStrike" spc="-1">
              <a:solidFill>
                <a:srgbClr val="FFFFFF"/>
              </a:solidFill>
              <a:latin typeface="Arial"/>
            </a:endParaRPr>
          </a:p>
        </p:txBody>
      </p:sp>
      <p:sp>
        <p:nvSpPr>
          <p:cNvPr id="194" name="Text 2"/>
          <p:cNvSpPr/>
          <p:nvPr/>
        </p:nvSpPr>
        <p:spPr>
          <a:xfrm>
            <a:off x="658440" y="224028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9FB0C6"/>
                </a:solidFill>
                <a:latin typeface="Calibri"/>
                <a:ea typeface="Calibri"/>
              </a:rPr>
              <a:t>Kent — set the amount and use-of-funds split.</a:t>
            </a:r>
            <a:endParaRPr lang="en-US" sz="1300" b="0" strike="noStrike" spc="-1">
              <a:solidFill>
                <a:srgbClr val="FFFFFF"/>
              </a:solidFill>
              <a:latin typeface="Arial"/>
            </a:endParaRPr>
          </a:p>
        </p:txBody>
      </p:sp>
      <p:sp>
        <p:nvSpPr>
          <p:cNvPr id="195" name="Shape 3"/>
          <p:cNvSpPr/>
          <p:nvPr/>
        </p:nvSpPr>
        <p:spPr>
          <a:xfrm>
            <a:off x="640080" y="2880360"/>
            <a:ext cx="5303160" cy="1234080"/>
          </a:xfrm>
          <a:prstGeom prst="roundRect">
            <a:avLst>
              <a:gd name="adj" fmla="val 3704"/>
            </a:avLst>
          </a:prstGeom>
          <a:solidFill>
            <a:srgbClr val="3346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6" name="Shape 4"/>
          <p:cNvSpPr/>
          <p:nvPr/>
        </p:nvSpPr>
        <p:spPr>
          <a:xfrm>
            <a:off x="960120" y="3291840"/>
            <a:ext cx="365400" cy="36540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7" name="Text 5"/>
          <p:cNvSpPr/>
          <p:nvPr/>
        </p:nvSpPr>
        <p:spPr>
          <a:xfrm>
            <a:off x="1508760" y="3081600"/>
            <a:ext cx="420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Cambria"/>
                <a:ea typeface="Cambria"/>
              </a:rPr>
              <a:t>Capacity &amp; binder</a:t>
            </a:r>
            <a:endParaRPr lang="en-US" sz="1600" b="0" strike="noStrike" spc="-1">
              <a:solidFill>
                <a:srgbClr val="FFFFFF"/>
              </a:solidFill>
              <a:latin typeface="Arial"/>
            </a:endParaRPr>
          </a:p>
        </p:txBody>
      </p:sp>
      <p:sp>
        <p:nvSpPr>
          <p:cNvPr id="198" name="Text 6"/>
          <p:cNvSpPr/>
          <p:nvPr/>
        </p:nvSpPr>
        <p:spPr>
          <a:xfrm>
            <a:off x="1508760" y="3502080"/>
            <a:ext cx="4205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9FB0C6"/>
                </a:solidFill>
                <a:latin typeface="Calibri"/>
                <a:ea typeface="Calibri"/>
              </a:rPr>
              <a:t>Secure/expand delegated authority</a:t>
            </a:r>
            <a:endParaRPr lang="en-US" sz="1250" b="0" strike="noStrike" spc="-1">
              <a:solidFill>
                <a:srgbClr val="FFFFFF"/>
              </a:solidFill>
              <a:latin typeface="Arial"/>
            </a:endParaRPr>
          </a:p>
        </p:txBody>
      </p:sp>
      <p:sp>
        <p:nvSpPr>
          <p:cNvPr id="199" name="Shape 7"/>
          <p:cNvSpPr/>
          <p:nvPr/>
        </p:nvSpPr>
        <p:spPr>
          <a:xfrm>
            <a:off x="6245280" y="2880360"/>
            <a:ext cx="5303160" cy="1234080"/>
          </a:xfrm>
          <a:prstGeom prst="roundRect">
            <a:avLst>
              <a:gd name="adj" fmla="val 3704"/>
            </a:avLst>
          </a:prstGeom>
          <a:solidFill>
            <a:srgbClr val="3346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0" name="Shape 8"/>
          <p:cNvSpPr/>
          <p:nvPr/>
        </p:nvSpPr>
        <p:spPr>
          <a:xfrm>
            <a:off x="6565320" y="3291840"/>
            <a:ext cx="365400" cy="36540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 9"/>
          <p:cNvSpPr/>
          <p:nvPr/>
        </p:nvSpPr>
        <p:spPr>
          <a:xfrm>
            <a:off x="7113960" y="3081600"/>
            <a:ext cx="420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Cambria"/>
                <a:ea typeface="Cambria"/>
              </a:rPr>
              <a:t>State filings</a:t>
            </a:r>
            <a:endParaRPr lang="en-US" sz="1600" b="0" strike="noStrike" spc="-1">
              <a:solidFill>
                <a:srgbClr val="FFFFFF"/>
              </a:solidFill>
              <a:latin typeface="Arial"/>
            </a:endParaRPr>
          </a:p>
        </p:txBody>
      </p:sp>
      <p:sp>
        <p:nvSpPr>
          <p:cNvPr id="202" name="Text 10"/>
          <p:cNvSpPr/>
          <p:nvPr/>
        </p:nvSpPr>
        <p:spPr>
          <a:xfrm>
            <a:off x="7113960" y="3502080"/>
            <a:ext cx="4205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9FB0C6"/>
                </a:solidFill>
                <a:latin typeface="Calibri"/>
                <a:ea typeface="Calibri"/>
              </a:rPr>
              <a:t>Rate &amp; form filings toward rollout</a:t>
            </a:r>
            <a:endParaRPr lang="en-US" sz="1250" b="0" strike="noStrike" spc="-1">
              <a:solidFill>
                <a:srgbClr val="FFFFFF"/>
              </a:solidFill>
              <a:latin typeface="Arial"/>
            </a:endParaRPr>
          </a:p>
        </p:txBody>
      </p:sp>
      <p:sp>
        <p:nvSpPr>
          <p:cNvPr id="203" name="Shape 11"/>
          <p:cNvSpPr/>
          <p:nvPr/>
        </p:nvSpPr>
        <p:spPr>
          <a:xfrm>
            <a:off x="640080" y="4297680"/>
            <a:ext cx="5303160" cy="1234080"/>
          </a:xfrm>
          <a:prstGeom prst="roundRect">
            <a:avLst>
              <a:gd name="adj" fmla="val 3704"/>
            </a:avLst>
          </a:prstGeom>
          <a:solidFill>
            <a:srgbClr val="3346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4" name="Shape 12"/>
          <p:cNvSpPr/>
          <p:nvPr/>
        </p:nvSpPr>
        <p:spPr>
          <a:xfrm>
            <a:off x="960120" y="4709160"/>
            <a:ext cx="365400" cy="36540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Text 13"/>
          <p:cNvSpPr/>
          <p:nvPr/>
        </p:nvSpPr>
        <p:spPr>
          <a:xfrm>
            <a:off x="1508760" y="4498920"/>
            <a:ext cx="420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Cambria"/>
                <a:ea typeface="Cambria"/>
              </a:rPr>
              <a:t>Data integrations</a:t>
            </a:r>
            <a:endParaRPr lang="en-US" sz="1600" b="0" strike="noStrike" spc="-1">
              <a:solidFill>
                <a:srgbClr val="FFFFFF"/>
              </a:solidFill>
              <a:latin typeface="Arial"/>
            </a:endParaRPr>
          </a:p>
        </p:txBody>
      </p:sp>
      <p:sp>
        <p:nvSpPr>
          <p:cNvPr id="206" name="Text 14"/>
          <p:cNvSpPr/>
          <p:nvPr/>
        </p:nvSpPr>
        <p:spPr>
          <a:xfrm>
            <a:off x="1508760" y="4919400"/>
            <a:ext cx="4205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9FB0C6"/>
                </a:solidFill>
                <a:latin typeface="Calibri"/>
                <a:ea typeface="Calibri"/>
              </a:rPr>
              <a:t>VIN, title, MVR, sanctions feeds</a:t>
            </a:r>
            <a:endParaRPr lang="en-US" sz="1250" b="0" strike="noStrike" spc="-1">
              <a:solidFill>
                <a:srgbClr val="FFFFFF"/>
              </a:solidFill>
              <a:latin typeface="Arial"/>
            </a:endParaRPr>
          </a:p>
        </p:txBody>
      </p:sp>
      <p:sp>
        <p:nvSpPr>
          <p:cNvPr id="207" name="Shape 15"/>
          <p:cNvSpPr/>
          <p:nvPr/>
        </p:nvSpPr>
        <p:spPr>
          <a:xfrm>
            <a:off x="6245280" y="4297680"/>
            <a:ext cx="5303160" cy="1234080"/>
          </a:xfrm>
          <a:prstGeom prst="roundRect">
            <a:avLst>
              <a:gd name="adj" fmla="val 3704"/>
            </a:avLst>
          </a:prstGeom>
          <a:solidFill>
            <a:srgbClr val="33465F"/>
          </a:solidFill>
          <a:ln w="0">
            <a:noFill/>
          </a:ln>
          <a:effectLst>
            <a:outerShdw blurRad="101520" dist="38160" dir="5400000" algn="bl" rotWithShape="0">
              <a:srgbClr val="9AA6B8">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8" name="Shape 16"/>
          <p:cNvSpPr/>
          <p:nvPr/>
        </p:nvSpPr>
        <p:spPr>
          <a:xfrm>
            <a:off x="6565320" y="4709160"/>
            <a:ext cx="365400" cy="365400"/>
          </a:xfrm>
          <a:prstGeom prst="ellipse">
            <a:avLst/>
          </a:prstGeom>
          <a:solidFill>
            <a:srgbClr val="E0A6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9" name="Text 17"/>
          <p:cNvSpPr/>
          <p:nvPr/>
        </p:nvSpPr>
        <p:spPr>
          <a:xfrm>
            <a:off x="7113960" y="4498920"/>
            <a:ext cx="4205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Cambria"/>
                <a:ea typeface="Cambria"/>
              </a:rPr>
              <a:t>Team</a:t>
            </a:r>
            <a:endParaRPr lang="en-US" sz="1600" b="0" strike="noStrike" spc="-1">
              <a:solidFill>
                <a:srgbClr val="FFFFFF"/>
              </a:solidFill>
              <a:latin typeface="Arial"/>
            </a:endParaRPr>
          </a:p>
        </p:txBody>
      </p:sp>
      <p:sp>
        <p:nvSpPr>
          <p:cNvPr id="210" name="Text 18"/>
          <p:cNvSpPr/>
          <p:nvPr/>
        </p:nvSpPr>
        <p:spPr>
          <a:xfrm>
            <a:off x="7113960" y="4919400"/>
            <a:ext cx="4205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9FB0C6"/>
                </a:solidFill>
                <a:latin typeface="Calibri"/>
                <a:ea typeface="Calibri"/>
              </a:rPr>
              <a:t>Underwriting &amp; engineering depth</a:t>
            </a:r>
            <a:endParaRPr lang="en-US" sz="1250" b="0" strike="noStrike" spc="-1">
              <a:solidFill>
                <a:srgbClr val="FFFFFF"/>
              </a:solidFill>
              <a:latin typeface="Arial"/>
            </a:endParaRPr>
          </a:p>
        </p:txBody>
      </p:sp>
      <p:sp>
        <p:nvSpPr>
          <p:cNvPr id="211" name="Text 19"/>
          <p:cNvSpPr/>
          <p:nvPr/>
        </p:nvSpPr>
        <p:spPr>
          <a:xfrm>
            <a:off x="640080" y="598932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i="1" strike="noStrike" spc="-1">
                <a:solidFill>
                  <a:srgbClr val="E0A62E"/>
                </a:solidFill>
                <a:latin typeface="Cambria"/>
                <a:ea typeface="Cambria"/>
              </a:rPr>
              <a:t>The lean MGA that's still standing when the market turns.</a:t>
            </a:r>
            <a:endParaRPr lang="en-US" sz="18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2185</Words>
  <Application>Microsoft Office PowerPoint</Application>
  <PresentationFormat>Widescreen</PresentationFormat>
  <Paragraphs>185</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Joshua Broedel</cp:lastModifiedBy>
  <cp:revision>2</cp:revision>
  <dcterms:created xsi:type="dcterms:W3CDTF">2026-08-29T17:37:58Z</dcterms:created>
  <dcterms:modified xsi:type="dcterms:W3CDTF">2026-08-30T21:02:28Z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13</vt:r8>
  </property>
  <property fmtid="{D5CDD505-2E9C-101B-9397-08002B2CF9AE}" pid="3" name="PresentationFormat">
    <vt:lpwstr>On-screen Show (16:9)</vt:lpwstr>
  </property>
  <property fmtid="{D5CDD505-2E9C-101B-9397-08002B2CF9AE}" pid="4" name="Slides">
    <vt:r8>13</vt:r8>
  </property>
</Properties>
</file>